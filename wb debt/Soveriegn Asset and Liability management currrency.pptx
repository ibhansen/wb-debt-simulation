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24"/>
  </p:notesMasterIdLst>
  <p:handoutMasterIdLst>
    <p:handoutMasterId r:id="rId25"/>
  </p:handoutMasterIdLst>
  <p:sldIdLst>
    <p:sldId id="284" r:id="rId6"/>
    <p:sldId id="267" r:id="rId7"/>
    <p:sldId id="268" r:id="rId8"/>
    <p:sldId id="269" r:id="rId9"/>
    <p:sldId id="286" r:id="rId10"/>
    <p:sldId id="292" r:id="rId11"/>
    <p:sldId id="293" r:id="rId12"/>
    <p:sldId id="291" r:id="rId13"/>
    <p:sldId id="273" r:id="rId14"/>
    <p:sldId id="272" r:id="rId15"/>
    <p:sldId id="287" r:id="rId16"/>
    <p:sldId id="271" r:id="rId17"/>
    <p:sldId id="270" r:id="rId18"/>
    <p:sldId id="276" r:id="rId19"/>
    <p:sldId id="274" r:id="rId20"/>
    <p:sldId id="278" r:id="rId21"/>
    <p:sldId id="275" r:id="rId22"/>
    <p:sldId id="277" r:id="rId23"/>
  </p:sldIdLst>
  <p:sldSz cx="9144000" cy="6858000" type="screen4x3"/>
  <p:notesSz cx="6807200" cy="9939338"/>
  <p:defaultTextStyle>
    <a:defPPr>
      <a:defRPr lang="da-DK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55 Roman" pitchFamily="2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55 Roman" pitchFamily="2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55 Roman" pitchFamily="2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55 Roman" pitchFamily="2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55 Roman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Frutiger 55 Roman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Frutiger 55 Roman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Frutiger 55 Roman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Frutiger 55 Roman" pitchFamily="2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B0D2"/>
    <a:srgbClr val="C4C6CA"/>
    <a:srgbClr val="ECC8E1"/>
    <a:srgbClr val="FCCF9B"/>
    <a:srgbClr val="FCE6A3"/>
    <a:srgbClr val="D5EAAA"/>
    <a:srgbClr val="B7E7C4"/>
    <a:srgbClr val="B4DAE2"/>
    <a:srgbClr val="B6C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82" autoAdjust="0"/>
    <p:restoredTop sz="94412" autoAdjust="0"/>
  </p:normalViewPr>
  <p:slideViewPr>
    <p:cSldViewPr snapToGrid="0" snapToObjects="1" showGuides="1">
      <p:cViewPr varScale="1">
        <p:scale>
          <a:sx n="70" d="100"/>
          <a:sy n="70" d="100"/>
        </p:scale>
        <p:origin x="-1656" y="-90"/>
      </p:cViewPr>
      <p:guideLst>
        <p:guide orient="horz" pos="3756"/>
        <p:guide orient="horz" pos="852"/>
        <p:guide pos="2880"/>
        <p:guide pos="266"/>
        <p:guide pos="5492"/>
        <p:guide pos="1944"/>
        <p:guide pos="2041"/>
        <p:guide pos="3718"/>
        <p:guide pos="381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oleObject" Target="file:///C:\Users\akj\AppData\Local\Microsoft\Windows\Temporary%20Internet%20Files\Content.Outlook\JH52J87A\Figur%20over%20valutakursreguleringer.xls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9788756995437685E-2"/>
          <c:y val="0.10074955908289242"/>
          <c:w val="0.9481291352556086"/>
          <c:h val="0.758663847574608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Valutakursreguleringer!$B$1</c:f>
              <c:strCache>
                <c:ptCount val="1"/>
                <c:pt idx="0">
                  <c:v>Central 
government</c:v>
                </c:pt>
              </c:strCache>
            </c:strRef>
          </c:tx>
          <c:spPr>
            <a:ln>
              <a:solidFill>
                <a:srgbClr val="303030"/>
              </a:solidFill>
            </a:ln>
          </c:spPr>
          <c:invertIfNegative val="0"/>
          <c:cat>
            <c:strRef>
              <c:f>Valutakursreguleringer!$A$2:$A$33</c:f>
              <c:strCache>
                <c:ptCount val="32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00</c:v>
                </c:pt>
                <c:pt idx="20">
                  <c:v>01</c:v>
                </c:pt>
                <c:pt idx="21">
                  <c:v>02</c:v>
                </c:pt>
                <c:pt idx="22">
                  <c:v>03</c:v>
                </c:pt>
                <c:pt idx="23">
                  <c:v>04</c:v>
                </c:pt>
                <c:pt idx="24">
                  <c:v>05</c:v>
                </c:pt>
                <c:pt idx="25">
                  <c:v>06</c:v>
                </c:pt>
                <c:pt idx="26">
                  <c:v>07</c:v>
                </c:pt>
                <c:pt idx="27">
                  <c:v>08</c:v>
                </c:pt>
                <c:pt idx="28">
                  <c:v>09</c:v>
                </c:pt>
                <c:pt idx="29">
                  <c:v>10</c:v>
                </c:pt>
                <c:pt idx="30">
                  <c:v>11</c:v>
                </c:pt>
                <c:pt idx="31">
                  <c:v>12</c:v>
                </c:pt>
              </c:strCache>
            </c:strRef>
          </c:cat>
          <c:val>
            <c:numRef>
              <c:f>Valutakursreguleringer!$B$2:$B$33</c:f>
              <c:numCache>
                <c:formatCode>0.0</c:formatCode>
                <c:ptCount val="32"/>
                <c:pt idx="0">
                  <c:v>-7.1</c:v>
                </c:pt>
                <c:pt idx="1">
                  <c:v>-5.6</c:v>
                </c:pt>
                <c:pt idx="2">
                  <c:v>-12.6</c:v>
                </c:pt>
                <c:pt idx="3">
                  <c:v>-8.4</c:v>
                </c:pt>
                <c:pt idx="4">
                  <c:v>10.7</c:v>
                </c:pt>
                <c:pt idx="5">
                  <c:v>7.8</c:v>
                </c:pt>
                <c:pt idx="6">
                  <c:v>6.2</c:v>
                </c:pt>
                <c:pt idx="7">
                  <c:v>-6.5</c:v>
                </c:pt>
                <c:pt idx="8">
                  <c:v>4</c:v>
                </c:pt>
                <c:pt idx="9">
                  <c:v>3.2</c:v>
                </c:pt>
                <c:pt idx="10">
                  <c:v>-0.3</c:v>
                </c:pt>
                <c:pt idx="11">
                  <c:v>-0.5</c:v>
                </c:pt>
                <c:pt idx="12">
                  <c:v>-2.9</c:v>
                </c:pt>
                <c:pt idx="13">
                  <c:v>3.6</c:v>
                </c:pt>
                <c:pt idx="14">
                  <c:v>5.5</c:v>
                </c:pt>
                <c:pt idx="15">
                  <c:v>0.1</c:v>
                </c:pt>
                <c:pt idx="16">
                  <c:v>-1.5</c:v>
                </c:pt>
                <c:pt idx="17">
                  <c:v>0.3</c:v>
                </c:pt>
                <c:pt idx="18">
                  <c:v>-0.2</c:v>
                </c:pt>
                <c:pt idx="19">
                  <c:v>-0.4</c:v>
                </c:pt>
                <c:pt idx="20">
                  <c:v>-0.76039999999999996</c:v>
                </c:pt>
                <c:pt idx="21">
                  <c:v>0.65040000000000009</c:v>
                </c:pt>
                <c:pt idx="22">
                  <c:v>-1.760000000000006E-2</c:v>
                </c:pt>
                <c:pt idx="23">
                  <c:v>5.3299999999999903E-2</c:v>
                </c:pt>
                <c:pt idx="24">
                  <c:v>4.5900000000000052E-2</c:v>
                </c:pt>
                <c:pt idx="25">
                  <c:v>-1.5499999999999847E-2</c:v>
                </c:pt>
                <c:pt idx="26">
                  <c:v>-8.0000000000000071E-3</c:v>
                </c:pt>
                <c:pt idx="27">
                  <c:v>0.18210000000000015</c:v>
                </c:pt>
                <c:pt idx="28">
                  <c:v>3.4499999999999975E-2</c:v>
                </c:pt>
                <c:pt idx="29">
                  <c:v>-2.1399999999999864E-2</c:v>
                </c:pt>
                <c:pt idx="30">
                  <c:v>0.10350000000000015</c:v>
                </c:pt>
                <c:pt idx="31">
                  <c:v>6.8999999999999062E-3</c:v>
                </c:pt>
              </c:numCache>
            </c:numRef>
          </c:val>
        </c:ser>
        <c:ser>
          <c:idx val="1"/>
          <c:order val="1"/>
          <c:tx>
            <c:strRef>
              <c:f>Valutakursreguleringer!$C$1</c:f>
              <c:strCache>
                <c:ptCount val="1"/>
                <c:pt idx="0">
                  <c:v>Central bank</c:v>
                </c:pt>
              </c:strCache>
            </c:strRef>
          </c:tx>
          <c:spPr>
            <a:ln>
              <a:solidFill>
                <a:srgbClr val="007BD2"/>
              </a:solidFill>
            </a:ln>
          </c:spPr>
          <c:invertIfNegative val="0"/>
          <c:cat>
            <c:strRef>
              <c:f>Valutakursreguleringer!$A$2:$A$33</c:f>
              <c:strCache>
                <c:ptCount val="32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00</c:v>
                </c:pt>
                <c:pt idx="20">
                  <c:v>01</c:v>
                </c:pt>
                <c:pt idx="21">
                  <c:v>02</c:v>
                </c:pt>
                <c:pt idx="22">
                  <c:v>03</c:v>
                </c:pt>
                <c:pt idx="23">
                  <c:v>04</c:v>
                </c:pt>
                <c:pt idx="24">
                  <c:v>05</c:v>
                </c:pt>
                <c:pt idx="25">
                  <c:v>06</c:v>
                </c:pt>
                <c:pt idx="26">
                  <c:v>07</c:v>
                </c:pt>
                <c:pt idx="27">
                  <c:v>08</c:v>
                </c:pt>
                <c:pt idx="28">
                  <c:v>09</c:v>
                </c:pt>
                <c:pt idx="29">
                  <c:v>10</c:v>
                </c:pt>
                <c:pt idx="30">
                  <c:v>11</c:v>
                </c:pt>
                <c:pt idx="31">
                  <c:v>12</c:v>
                </c:pt>
              </c:strCache>
            </c:strRef>
          </c:cat>
          <c:val>
            <c:numRef>
              <c:f>Valutakursreguleringer!$C$2:$C$33</c:f>
              <c:numCache>
                <c:formatCode>0.0</c:formatCode>
                <c:ptCount val="32"/>
                <c:pt idx="0">
                  <c:v>3.2</c:v>
                </c:pt>
                <c:pt idx="1">
                  <c:v>2.1</c:v>
                </c:pt>
                <c:pt idx="2">
                  <c:v>3.8</c:v>
                </c:pt>
                <c:pt idx="3">
                  <c:v>1.9</c:v>
                </c:pt>
                <c:pt idx="4">
                  <c:v>-2.7</c:v>
                </c:pt>
                <c:pt idx="5">
                  <c:v>-1</c:v>
                </c:pt>
                <c:pt idx="6">
                  <c:v>-0.8</c:v>
                </c:pt>
                <c:pt idx="7">
                  <c:v>3</c:v>
                </c:pt>
                <c:pt idx="8">
                  <c:v>-2.1</c:v>
                </c:pt>
                <c:pt idx="9">
                  <c:v>-2.5</c:v>
                </c:pt>
                <c:pt idx="10">
                  <c:v>1.5</c:v>
                </c:pt>
                <c:pt idx="11">
                  <c:v>1.4</c:v>
                </c:pt>
                <c:pt idx="12">
                  <c:v>2.1</c:v>
                </c:pt>
                <c:pt idx="13">
                  <c:v>-5.3</c:v>
                </c:pt>
                <c:pt idx="14">
                  <c:v>-4.9000000000000004</c:v>
                </c:pt>
                <c:pt idx="15">
                  <c:v>0.8</c:v>
                </c:pt>
                <c:pt idx="16">
                  <c:v>2.1</c:v>
                </c:pt>
                <c:pt idx="17">
                  <c:v>-0.4</c:v>
                </c:pt>
                <c:pt idx="18">
                  <c:v>0.53500000000000003</c:v>
                </c:pt>
                <c:pt idx="19">
                  <c:v>0.28000000000000003</c:v>
                </c:pt>
                <c:pt idx="20">
                  <c:v>-0.67700000000000005</c:v>
                </c:pt>
                <c:pt idx="21">
                  <c:v>0.21199999999999999</c:v>
                </c:pt>
                <c:pt idx="22">
                  <c:v>0.72499999999999998</c:v>
                </c:pt>
                <c:pt idx="23">
                  <c:v>-0.16800000000000001</c:v>
                </c:pt>
                <c:pt idx="24">
                  <c:v>0.70899999999999996</c:v>
                </c:pt>
                <c:pt idx="25">
                  <c:v>0.16800000000000001</c:v>
                </c:pt>
                <c:pt idx="26">
                  <c:v>0.41499999999999998</c:v>
                </c:pt>
                <c:pt idx="27">
                  <c:v>-6.0000000000000001E-3</c:v>
                </c:pt>
                <c:pt idx="28">
                  <c:v>-0.28100000000000003</c:v>
                </c:pt>
                <c:pt idx="29">
                  <c:v>1.0309999999999999</c:v>
                </c:pt>
                <c:pt idx="30">
                  <c:v>-1.2569999999999999</c:v>
                </c:pt>
                <c:pt idx="31">
                  <c:v>1.7110000000000001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26427648"/>
        <c:axId val="226429184"/>
      </c:barChart>
      <c:lineChart>
        <c:grouping val="standard"/>
        <c:varyColors val="0"/>
        <c:ser>
          <c:idx val="2"/>
          <c:order val="2"/>
          <c:tx>
            <c:strRef>
              <c:f>Valutakursreguleringer!$D$1</c:f>
              <c:strCache>
                <c:ptCount val="1"/>
                <c:pt idx="0">
                  <c:v>Net</c:v>
                </c:pt>
              </c:strCache>
            </c:strRef>
          </c:tx>
          <c:spPr>
            <a:ln w="28575">
              <a:solidFill>
                <a:srgbClr val="8DC63E"/>
              </a:solidFill>
            </a:ln>
          </c:spPr>
          <c:marker>
            <c:symbol val="none"/>
          </c:marker>
          <c:cat>
            <c:strRef>
              <c:f>Valutakursreguleringer!$A$2:$A$33</c:f>
              <c:strCache>
                <c:ptCount val="32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00</c:v>
                </c:pt>
                <c:pt idx="20">
                  <c:v>01</c:v>
                </c:pt>
                <c:pt idx="21">
                  <c:v>02</c:v>
                </c:pt>
                <c:pt idx="22">
                  <c:v>03</c:v>
                </c:pt>
                <c:pt idx="23">
                  <c:v>04</c:v>
                </c:pt>
                <c:pt idx="24">
                  <c:v>05</c:v>
                </c:pt>
                <c:pt idx="25">
                  <c:v>06</c:v>
                </c:pt>
                <c:pt idx="26">
                  <c:v>07</c:v>
                </c:pt>
                <c:pt idx="27">
                  <c:v>08</c:v>
                </c:pt>
                <c:pt idx="28">
                  <c:v>09</c:v>
                </c:pt>
                <c:pt idx="29">
                  <c:v>10</c:v>
                </c:pt>
                <c:pt idx="30">
                  <c:v>11</c:v>
                </c:pt>
                <c:pt idx="31">
                  <c:v>12</c:v>
                </c:pt>
              </c:strCache>
            </c:strRef>
          </c:cat>
          <c:val>
            <c:numRef>
              <c:f>Valutakursreguleringer!$D$2:$D$33</c:f>
              <c:numCache>
                <c:formatCode>0.0</c:formatCode>
                <c:ptCount val="32"/>
                <c:pt idx="0">
                  <c:v>-3.8999999999999995</c:v>
                </c:pt>
                <c:pt idx="1">
                  <c:v>-3.4999999999999996</c:v>
                </c:pt>
                <c:pt idx="2">
                  <c:v>-8.8000000000000007</c:v>
                </c:pt>
                <c:pt idx="3">
                  <c:v>-6.5</c:v>
                </c:pt>
                <c:pt idx="4">
                  <c:v>7.9999999999999991</c:v>
                </c:pt>
                <c:pt idx="5">
                  <c:v>6.8</c:v>
                </c:pt>
                <c:pt idx="6">
                  <c:v>5.4</c:v>
                </c:pt>
                <c:pt idx="7">
                  <c:v>-3.5</c:v>
                </c:pt>
                <c:pt idx="8">
                  <c:v>1.9</c:v>
                </c:pt>
                <c:pt idx="9">
                  <c:v>0.70000000000000018</c:v>
                </c:pt>
                <c:pt idx="10">
                  <c:v>1.2</c:v>
                </c:pt>
                <c:pt idx="11">
                  <c:v>0.89999999999999991</c:v>
                </c:pt>
                <c:pt idx="12">
                  <c:v>-0.79999999999999982</c:v>
                </c:pt>
                <c:pt idx="13">
                  <c:v>-1.6999999999999997</c:v>
                </c:pt>
                <c:pt idx="14">
                  <c:v>0.59999999999999964</c:v>
                </c:pt>
                <c:pt idx="15">
                  <c:v>0.9</c:v>
                </c:pt>
                <c:pt idx="16">
                  <c:v>0.60000000000000009</c:v>
                </c:pt>
                <c:pt idx="17">
                  <c:v>-0.10000000000000003</c:v>
                </c:pt>
                <c:pt idx="18">
                  <c:v>0.33500000000000002</c:v>
                </c:pt>
                <c:pt idx="19">
                  <c:v>-0.12</c:v>
                </c:pt>
                <c:pt idx="20">
                  <c:v>-1.4374</c:v>
                </c:pt>
                <c:pt idx="21">
                  <c:v>0.86240000000000006</c:v>
                </c:pt>
                <c:pt idx="22">
                  <c:v>0.70739999999999992</c:v>
                </c:pt>
                <c:pt idx="23">
                  <c:v>-0.11470000000000011</c:v>
                </c:pt>
                <c:pt idx="24">
                  <c:v>0.75490000000000002</c:v>
                </c:pt>
                <c:pt idx="25">
                  <c:v>0.15250000000000016</c:v>
                </c:pt>
                <c:pt idx="26">
                  <c:v>0.40699999999999997</c:v>
                </c:pt>
                <c:pt idx="27">
                  <c:v>0.17610000000000015</c:v>
                </c:pt>
                <c:pt idx="28">
                  <c:v>-0.24650000000000005</c:v>
                </c:pt>
                <c:pt idx="29">
                  <c:v>1.0096000000000001</c:v>
                </c:pt>
                <c:pt idx="30">
                  <c:v>-1.1534999999999997</c:v>
                </c:pt>
                <c:pt idx="31">
                  <c:v>1.7179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6427648"/>
        <c:axId val="226429184"/>
      </c:lineChart>
      <c:catAx>
        <c:axId val="226427648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750">
                <a:latin typeface="Nationalbank"/>
                <a:ea typeface="Nationalbank"/>
                <a:cs typeface="Nationalbank"/>
              </a:defRPr>
            </a:pPr>
            <a:endParaRPr lang="da-DK"/>
          </a:p>
        </c:txPr>
        <c:crossAx val="226429184"/>
        <c:crossesAt val="-25"/>
        <c:auto val="1"/>
        <c:lblAlgn val="ctr"/>
        <c:lblOffset val="100"/>
        <c:noMultiLvlLbl val="0"/>
      </c:catAx>
      <c:valAx>
        <c:axId val="226429184"/>
        <c:scaling>
          <c:orientation val="minMax"/>
        </c:scaling>
        <c:delete val="0"/>
        <c:axPos val="l"/>
        <c:majorGridlines>
          <c:spPr>
            <a:ln w="6350">
              <a:solidFill>
                <a:srgbClr val="CCCCCC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aseline="0">
                <a:latin typeface="Nationalbank"/>
                <a:ea typeface="Nationalbank"/>
                <a:cs typeface="Nationalbank"/>
              </a:defRPr>
            </a:pPr>
            <a:endParaRPr lang="da-DK"/>
          </a:p>
        </c:txPr>
        <c:crossAx val="226427648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"/>
          <c:y val="0.93041726219866083"/>
          <c:w val="1"/>
          <c:h val="6.5173635473783631E-2"/>
        </c:manualLayout>
      </c:layout>
      <c:overlay val="0"/>
      <c:txPr>
        <a:bodyPr/>
        <a:lstStyle/>
        <a:p>
          <a:pPr>
            <a:defRPr sz="750">
              <a:latin typeface="Nationalbank"/>
              <a:ea typeface="Nationalbank"/>
              <a:cs typeface="Nationalbank"/>
            </a:defRPr>
          </a:pPr>
          <a:endParaRPr lang="da-DK"/>
        </a:p>
      </c:txPr>
    </c:legend>
    <c:plotVisOnly val="1"/>
    <c:dispBlanksAs val="gap"/>
    <c:showDLblsOverMax val="0"/>
  </c:chart>
  <c:spPr>
    <a:noFill/>
    <a:ln>
      <a:noFill/>
    </a:ln>
  </c:spPr>
  <c:externalData r:id="rId2">
    <c:autoUpdate val="0"/>
  </c:externalData>
  <c:userShapes r:id="rId3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0.01701</cdr:x>
      <cdr:y>0.02094</cdr:y>
    </cdr:from>
    <cdr:to>
      <cdr:x>0.92789</cdr:x>
      <cdr:y>0.08347</cdr:y>
    </cdr:to>
    <cdr:sp macro="" textlink="">
      <cdr:nvSpPr>
        <cdr:cNvPr id="2" name="Tekstboks 1"/>
        <cdr:cNvSpPr txBox="1"/>
      </cdr:nvSpPr>
      <cdr:spPr>
        <a:xfrm xmlns:a="http://schemas.openxmlformats.org/drawingml/2006/main">
          <a:off x="134185" y="95157"/>
          <a:ext cx="7185574" cy="28414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horz" lIns="0" tIns="0" rIns="0" bIns="0" rtlCol="0"/>
        <a:lstStyle xmlns:a="http://schemas.openxmlformats.org/drawingml/2006/main"/>
        <a:p xmlns:a="http://schemas.openxmlformats.org/drawingml/2006/main">
          <a:pPr algn="l"/>
          <a:r>
            <a:rPr lang="da-DK" sz="1800" b="0" i="0" dirty="0">
              <a:latin typeface="Nationalbank"/>
            </a:rPr>
            <a:t>DKK billion</a:t>
          </a:r>
        </a:p>
      </cdr:txBody>
    </cdr:sp>
  </cdr:relSizeAnchor>
  <cdr:relSizeAnchor xmlns:cdr="http://schemas.openxmlformats.org/drawingml/2006/chartDrawing">
    <cdr:from>
      <cdr:x>0.42743</cdr:x>
      <cdr:y>0.19456</cdr:y>
    </cdr:from>
    <cdr:to>
      <cdr:x>0.54335</cdr:x>
      <cdr:y>0.39578</cdr:y>
    </cdr:to>
    <cdr:sp macro="" textlink="">
      <cdr:nvSpPr>
        <cdr:cNvPr id="3" name="Tekstboks 2"/>
        <cdr:cNvSpPr txBox="1"/>
      </cdr:nvSpPr>
      <cdr:spPr>
        <a:xfrm xmlns:a="http://schemas.openxmlformats.org/drawingml/2006/main">
          <a:off x="3371850" y="884130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da-DK" sz="1100" dirty="0"/>
        </a:p>
      </cdr:txBody>
    </cdr:sp>
  </cdr:relSizeAnchor>
  <cdr:relSizeAnchor xmlns:cdr="http://schemas.openxmlformats.org/drawingml/2006/chartDrawing">
    <cdr:from>
      <cdr:x>0.41294</cdr:x>
      <cdr:y>0.14845</cdr:y>
    </cdr:from>
    <cdr:to>
      <cdr:x>0.78121</cdr:x>
      <cdr:y>0.226</cdr:y>
    </cdr:to>
    <cdr:sp macro="" textlink="">
      <cdr:nvSpPr>
        <cdr:cNvPr id="4" name="Tekstboks 3"/>
        <cdr:cNvSpPr txBox="1"/>
      </cdr:nvSpPr>
      <cdr:spPr>
        <a:xfrm xmlns:a="http://schemas.openxmlformats.org/drawingml/2006/main">
          <a:off x="3257549" y="674580"/>
          <a:ext cx="2905125" cy="3524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da-DK" sz="2000" dirty="0" err="1" smtClean="0"/>
            <a:t>Coordination</a:t>
          </a:r>
          <a:r>
            <a:rPr lang="da-DK" sz="2000" dirty="0" smtClean="0"/>
            <a:t> </a:t>
          </a:r>
          <a:endParaRPr lang="da-DK" sz="2000" dirty="0"/>
        </a:p>
      </cdr:txBody>
    </cdr:sp>
  </cdr:relSizeAnchor>
  <cdr:relSizeAnchor xmlns:cdr="http://schemas.openxmlformats.org/drawingml/2006/chartDrawing">
    <cdr:from>
      <cdr:x>0.20285</cdr:x>
      <cdr:y>0.68922</cdr:y>
    </cdr:from>
    <cdr:to>
      <cdr:x>0.39121</cdr:x>
      <cdr:y>0.83804</cdr:y>
    </cdr:to>
    <cdr:sp macro="" textlink="">
      <cdr:nvSpPr>
        <cdr:cNvPr id="5" name="Tekstboks 4"/>
        <cdr:cNvSpPr txBox="1"/>
      </cdr:nvSpPr>
      <cdr:spPr>
        <a:xfrm xmlns:a="http://schemas.openxmlformats.org/drawingml/2006/main">
          <a:off x="1600200" y="3132030"/>
          <a:ext cx="1485900" cy="67627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da-DK" sz="1100" dirty="0"/>
        </a:p>
      </cdr:txBody>
    </cdr:sp>
  </cdr:relSizeAnchor>
  <cdr:relSizeAnchor xmlns:cdr="http://schemas.openxmlformats.org/drawingml/2006/chartDrawing">
    <cdr:from>
      <cdr:x>0.18595</cdr:x>
      <cdr:y>0.70704</cdr:y>
    </cdr:from>
    <cdr:to>
      <cdr:x>0.30186</cdr:x>
      <cdr:y>0.90826</cdr:y>
    </cdr:to>
    <cdr:sp macro="" textlink="">
      <cdr:nvSpPr>
        <cdr:cNvPr id="6" name="Tekstboks 5"/>
        <cdr:cNvSpPr txBox="1"/>
      </cdr:nvSpPr>
      <cdr:spPr>
        <a:xfrm xmlns:a="http://schemas.openxmlformats.org/drawingml/2006/main">
          <a:off x="1466850" y="3212992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da-DK" sz="2000" dirty="0" err="1" smtClean="0"/>
            <a:t>Loss</a:t>
          </a:r>
          <a:endParaRPr lang="da-DK" sz="2000" dirty="0"/>
        </a:p>
      </cdr:txBody>
    </cdr:sp>
  </cdr:relSizeAnchor>
  <cdr:relSizeAnchor xmlns:cdr="http://schemas.openxmlformats.org/drawingml/2006/chartDrawing">
    <cdr:from>
      <cdr:x>0.17749</cdr:x>
      <cdr:y>0.65674</cdr:y>
    </cdr:from>
    <cdr:to>
      <cdr:x>0.1787</cdr:x>
      <cdr:y>0.83176</cdr:y>
    </cdr:to>
    <cdr:cxnSp macro="">
      <cdr:nvCxnSpPr>
        <cdr:cNvPr id="8" name="Lige pilforbindelse 7"/>
        <cdr:cNvCxnSpPr/>
      </cdr:nvCxnSpPr>
      <cdr:spPr bwMode="auto">
        <a:xfrm xmlns:a="http://schemas.openxmlformats.org/drawingml/2006/main">
          <a:off x="1400175" y="2984392"/>
          <a:ext cx="9525" cy="795338"/>
        </a:xfrm>
        <a:prstGeom xmlns:a="http://schemas.openxmlformats.org/drawingml/2006/main" prst="straightConnector1">
          <a:avLst/>
        </a:prstGeom>
        <a:solidFill xmlns:a="http://schemas.openxmlformats.org/drawingml/2006/main">
          <a:srgbClr val="808080"/>
        </a:solidFill>
        <a:ln xmlns:a="http://schemas.openxmlformats.org/drawingml/2006/main"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 xmlns:a="http://schemas.openxmlformats.org/drawingml/2006/main"/>
        <a:extLst xmlns:a="http://schemas.openxmlformats.org/drawingml/2006/main"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cdr:spPr>
    </cdr:cxn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da-DK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038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774CC004-7AE4-4226-9A43-D4F890574D66}" type="datetime1">
              <a:rPr lang="da-DK"/>
              <a:pPr/>
              <a:t>05-03-2015</a:t>
            </a:fld>
            <a:endParaRPr lang="da-DK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da-DK" dirty="0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038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B7538053-2243-4B19-AD1E-C1274C536DEA}" type="slidenum">
              <a:rPr lang="da-DK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777133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da-DK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038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3FD57575-6337-461C-B468-4040DF438CD1}" type="datetime1">
              <a:rPr lang="da-DK"/>
              <a:pPr/>
              <a:t>05-03-2015</a:t>
            </a:fld>
            <a:endParaRPr lang="da-DK" dirty="0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5700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5125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smtClean="0"/>
              <a:t>Klik for at redigere teksttypografierne i masteren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da-DK" dirty="0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038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8D3A04E8-4717-4132-BD26-5D12D72B571C}" type="slidenum">
              <a:rPr lang="da-DK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540284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51CE2A-9A6E-47B1-916E-549DA1182817}" type="slidenum">
              <a:rPr lang="da-DK"/>
              <a:pPr/>
              <a:t>1</a:t>
            </a:fld>
            <a:endParaRPr lang="da-DK"/>
          </a:p>
        </p:txBody>
      </p:sp>
      <p:sp>
        <p:nvSpPr>
          <p:cNvPr id="27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D3A04E8-4717-4132-BD26-5D12D72B571C}" type="slidenum">
              <a:rPr lang="da-DK" smtClean="0"/>
              <a:pPr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52691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9" name="Picture 37" descr="V-10x25-009-L3015214_smal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46313"/>
            <a:ext cx="9144000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5" name="Rectangle 33"/>
          <p:cNvSpPr>
            <a:spLocks noChangeArrowheads="1"/>
          </p:cNvSpPr>
          <p:nvPr/>
        </p:nvSpPr>
        <p:spPr bwMode="auto">
          <a:xfrm>
            <a:off x="0" y="2249488"/>
            <a:ext cx="9144000" cy="325437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36000" tIns="0" rIns="0" bIns="0" anchor="ctr"/>
          <a:lstStyle/>
          <a:p>
            <a:endParaRPr lang="da-DK" dirty="0">
              <a:latin typeface="Verdana" pitchFamily="34" charset="0"/>
              <a:ea typeface="ＭＳ Ｐゴシック" pitchFamily="-111" charset="-128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23863" y="2249488"/>
            <a:ext cx="8294687" cy="325437"/>
          </a:xfrm>
        </p:spPr>
        <p:txBody>
          <a:bodyPr wrap="none" lIns="21600" tIns="0" rIns="21600" bIns="36000" anchor="ctr"/>
          <a:lstStyle>
            <a:lvl1pPr marL="0" indent="0">
              <a:lnSpc>
                <a:spcPct val="125000"/>
              </a:lnSpc>
              <a:spcBef>
                <a:spcPct val="0"/>
              </a:spcBef>
              <a:buFontTx/>
              <a:buNone/>
              <a:defRPr sz="1200" b="1">
                <a:solidFill>
                  <a:schemeClr val="bg1"/>
                </a:solidFill>
                <a:latin typeface="Nationalbank" panose="020B0503040000020004" pitchFamily="2" charset="0"/>
              </a:defRPr>
            </a:lvl1pPr>
          </a:lstStyle>
          <a:p>
            <a:pPr lvl="0"/>
            <a:r>
              <a:rPr lang="da-DK" noProof="0" smtClean="0"/>
              <a:t>Klik for at redigere i master</a:t>
            </a:r>
            <a:endParaRPr lang="da-DK" noProof="0" dirty="0" smtClean="0"/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423863" y="284163"/>
            <a:ext cx="829468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/>
          <a:lstStyle/>
          <a:p>
            <a:pPr algn="l">
              <a:lnSpc>
                <a:spcPts val="3000"/>
              </a:lnSpc>
            </a:pPr>
            <a:r>
              <a:rPr lang="da-DK" sz="3000" dirty="0">
                <a:latin typeface="Nationalbank" panose="020B0503040000020004" pitchFamily="2" charset="0"/>
              </a:rPr>
              <a:t>DANMARKS</a:t>
            </a:r>
            <a:br>
              <a:rPr lang="da-DK" sz="3000" dirty="0">
                <a:latin typeface="Nationalbank" panose="020B0503040000020004" pitchFamily="2" charset="0"/>
              </a:rPr>
            </a:br>
            <a:r>
              <a:rPr lang="da-DK" sz="3000" dirty="0">
                <a:latin typeface="Nationalbank" panose="020B0503040000020004" pitchFamily="2" charset="0"/>
              </a:rPr>
              <a:t>NATIONALBANK</a:t>
            </a:r>
          </a:p>
        </p:txBody>
      </p:sp>
      <p:sp>
        <p:nvSpPr>
          <p:cNvPr id="3094" name="Rectangle 22"/>
          <p:cNvSpPr>
            <a:spLocks noGrp="1" noChangeArrowheads="1"/>
          </p:cNvSpPr>
          <p:nvPr>
            <p:ph type="ctrTitle"/>
          </p:nvPr>
        </p:nvSpPr>
        <p:spPr>
          <a:xfrm>
            <a:off x="423863" y="1327150"/>
            <a:ext cx="8294687" cy="9207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lnSpc>
                <a:spcPct val="83000"/>
              </a:lnSpc>
              <a:defRPr sz="3000" cap="all" baseline="0"/>
            </a:lvl1pPr>
          </a:lstStyle>
          <a:p>
            <a:pPr lvl="0"/>
            <a:r>
              <a:rPr lang="da-DK" noProof="0" smtClean="0"/>
              <a:t>Klik for at redigere i master</a:t>
            </a:r>
            <a:endParaRPr lang="da-DK" noProof="0" dirty="0" smtClean="0"/>
          </a:p>
        </p:txBody>
      </p:sp>
      <p:sp>
        <p:nvSpPr>
          <p:cNvPr id="3096" name="Line 24"/>
          <p:cNvSpPr>
            <a:spLocks noChangeShapeType="1"/>
          </p:cNvSpPr>
          <p:nvPr/>
        </p:nvSpPr>
        <p:spPr bwMode="auto">
          <a:xfrm flipV="1">
            <a:off x="415925" y="1190625"/>
            <a:ext cx="8726488" cy="1588"/>
          </a:xfrm>
          <a:prstGeom prst="line">
            <a:avLst/>
          </a:prstGeom>
          <a:noFill/>
          <a:ln w="19050">
            <a:solidFill>
              <a:srgbClr val="FF002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a-DK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9FB19-713A-4252-AE55-6098AA067295}" type="datetime2">
              <a:rPr lang="da-DK" smtClean="0"/>
              <a:t>5. marts 2015</a:t>
            </a:fld>
            <a:endParaRPr lang="da-DK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 smtClean="0"/>
              <a:t>Titel her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D571-D5B5-4AEC-8538-4D4253B2ABFE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2" name="Billed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24" y="6117209"/>
            <a:ext cx="1511808" cy="5608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6F5ED9-C9FD-4B9A-B933-7E7CD69501D8}" type="datetime2">
              <a:rPr lang="da-DK" smtClean="0"/>
              <a:t>5. marts 2015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 smtClean="0"/>
              <a:t>Titel her</a:t>
            </a:r>
          </a:p>
          <a:p>
            <a:endParaRPr lang="da-DK" b="0" dirty="0" smtClean="0"/>
          </a:p>
          <a:p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6553" y="6473826"/>
            <a:ext cx="2011362" cy="257175"/>
          </a:xfrm>
        </p:spPr>
        <p:txBody>
          <a:bodyPr/>
          <a:lstStyle>
            <a:lvl1pPr>
              <a:defRPr sz="1100" baseline="0"/>
            </a:lvl1pPr>
          </a:lstStyle>
          <a:p>
            <a:endParaRPr lang="da-DK" dirty="0"/>
          </a:p>
        </p:txBody>
      </p:sp>
      <p:sp>
        <p:nvSpPr>
          <p:cNvPr id="7" name="Pladsholder til tekst 6"/>
          <p:cNvSpPr>
            <a:spLocks noGrp="1"/>
          </p:cNvSpPr>
          <p:nvPr>
            <p:ph type="body" sz="quarter" idx="13"/>
          </p:nvPr>
        </p:nvSpPr>
        <p:spPr>
          <a:xfrm>
            <a:off x="423863" y="1353600"/>
            <a:ext cx="8294687" cy="4611600"/>
          </a:xfrm>
        </p:spPr>
        <p:txBody>
          <a:bodyPr/>
          <a:lstStyle/>
          <a:p>
            <a:pPr lvl="0"/>
            <a:r>
              <a:rPr lang="da-DK" dirty="0" smtClean="0"/>
              <a:t>Klik for at redigere i master</a:t>
            </a:r>
          </a:p>
          <a:p>
            <a:pPr lvl="1"/>
            <a:r>
              <a:rPr lang="da-DK" dirty="0" smtClean="0"/>
              <a:t>Andet niveau</a:t>
            </a:r>
          </a:p>
          <a:p>
            <a:pPr lvl="2"/>
            <a:r>
              <a:rPr lang="da-DK" dirty="0" smtClean="0"/>
              <a:t>Tredje niveau</a:t>
            </a:r>
          </a:p>
          <a:p>
            <a:pPr lvl="3"/>
            <a:r>
              <a:rPr lang="da-DK" dirty="0" smtClean="0"/>
              <a:t>Fjerde niveau</a:t>
            </a:r>
          </a:p>
          <a:p>
            <a:pPr lvl="4"/>
            <a:r>
              <a:rPr lang="da-DK" dirty="0" smtClean="0"/>
              <a:t>Femte niveau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484486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2E2C3-C91B-46E0-9E6F-9D8D324150D1}" type="datetime2">
              <a:rPr lang="da-DK" smtClean="0"/>
              <a:t>5. marts 2015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smtClean="0"/>
              <a:t>Titel her</a:t>
            </a:r>
            <a:endParaRPr lang="da-DK" dirty="0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D571-D5B5-4AEC-8538-4D4253B2ABFE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79559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863" y="1352550"/>
            <a:ext cx="4070350" cy="4610100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500"/>
            </a:lvl3pPr>
            <a:lvl4pPr>
              <a:defRPr sz="1200"/>
            </a:lvl4pPr>
            <a:lvl5pPr>
              <a:defRPr sz="1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352550"/>
            <a:ext cx="4071937" cy="4610100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500"/>
            </a:lvl3pPr>
            <a:lvl4pPr>
              <a:defRPr sz="1200"/>
            </a:lvl4pPr>
            <a:lvl5pPr>
              <a:defRPr sz="1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DA5FC1-704D-43B3-B1A6-EC7C317DDDD1}" type="datetime2">
              <a:rPr lang="da-DK" smtClean="0"/>
              <a:t>5. marts 2015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Titel her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C74E38-0C8A-4847-93C5-7D8AC68D3F6C}" type="slidenum">
              <a:rPr lang="da-DK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1389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grå bag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5"/>
          <p:cNvSpPr>
            <a:spLocks noChangeArrowheads="1"/>
          </p:cNvSpPr>
          <p:nvPr userDrawn="1"/>
        </p:nvSpPr>
        <p:spPr bwMode="auto">
          <a:xfrm>
            <a:off x="424656" y="1352550"/>
            <a:ext cx="8294687" cy="4610100"/>
          </a:xfrm>
          <a:prstGeom prst="roundRect">
            <a:avLst>
              <a:gd name="adj" fmla="val 2685"/>
            </a:avLst>
          </a:prstGeom>
          <a:solidFill>
            <a:srgbClr val="EEEEEE"/>
          </a:solidFill>
          <a:ln w="6350" algn="ctr">
            <a:solidFill>
              <a:srgbClr val="C4C6CA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36000" tIns="0" rIns="0" bIns="0" anchor="ctr"/>
          <a:lstStyle/>
          <a:p>
            <a:endParaRPr lang="da-DK" noProof="0" dirty="0">
              <a:latin typeface="Verdana" pitchFamily="34" charset="0"/>
              <a:ea typeface="ＭＳ Ｐゴシック" pitchFamily="-111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smtClean="0"/>
              <a:t>Klik for at redigere i master</a:t>
            </a:r>
            <a:endParaRPr lang="da-DK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0000" y="1710000"/>
            <a:ext cx="8060400" cy="3985200"/>
          </a:xfrm>
        </p:spPr>
        <p:txBody>
          <a:bodyPr tIns="79200"/>
          <a:lstStyle>
            <a:lvl1pPr marL="0" indent="0">
              <a:buNone/>
              <a:defRPr/>
            </a:lvl1pPr>
            <a:lvl2pPr marL="357188" indent="0">
              <a:buNone/>
              <a:defRPr/>
            </a:lvl2pPr>
            <a:lvl3pPr marL="719138" indent="0">
              <a:buNone/>
              <a:defRPr/>
            </a:lvl3pPr>
            <a:lvl4pPr marL="1081088" indent="0">
              <a:buNone/>
              <a:defRPr/>
            </a:lvl4pPr>
            <a:lvl5pPr marL="1441450" indent="0">
              <a:buNone/>
              <a:defRPr/>
            </a:lvl5pPr>
          </a:lstStyle>
          <a:p>
            <a:pPr lvl="0"/>
            <a:r>
              <a:rPr lang="da-DK" noProof="0" dirty="0" smtClean="0"/>
              <a:t>Indsæt figur her (med </a:t>
            </a:r>
            <a:r>
              <a:rPr lang="da-DK" noProof="0" dirty="0" err="1" smtClean="0"/>
              <a:t>Ctrl+V</a:t>
            </a:r>
            <a:r>
              <a:rPr lang="da-DK" noProof="0" dirty="0" smtClean="0"/>
              <a:t> kopieret fra fx Excel). Husk at indsætte som billede – ikke med underliggende dataark.</a:t>
            </a:r>
          </a:p>
          <a:p>
            <a:pPr lvl="0"/>
            <a:endParaRPr lang="da-DK" noProof="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9D46269-8432-4474-A4CE-3FCB2A0B72DC}" type="datetime2">
              <a:rPr lang="da-DK" noProof="0" smtClean="0"/>
              <a:t>5. marts 2015</a:t>
            </a:fld>
            <a:endParaRPr lang="da-DK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noProof="0" dirty="0"/>
              <a:t>Titel her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ED8A7D-E4B8-437D-8C64-1C7D8E5C384C}" type="slidenum">
              <a:rPr lang="da-DK" noProof="0"/>
              <a:pPr/>
              <a:t>‹nr.›</a:t>
            </a:fld>
            <a:endParaRPr lang="da-DK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17600" y="1346400"/>
            <a:ext cx="8301600" cy="360000"/>
          </a:xfrm>
        </p:spPr>
        <p:txBody>
          <a:bodyPr lIns="162000" tIns="86400" rIns="162000"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1500" b="1">
                <a:latin typeface="Nationalbank" panose="020B0503040000020004" pitchFamily="2" charset="0"/>
              </a:defRPr>
            </a:lvl1pPr>
          </a:lstStyle>
          <a:p>
            <a:pPr lvl="0"/>
            <a:r>
              <a:rPr lang="da-DK" noProof="0" smtClean="0"/>
              <a:t>Klik for at redigere i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424800" y="5761585"/>
            <a:ext cx="8294400" cy="210142"/>
          </a:xfrm>
        </p:spPr>
        <p:txBody>
          <a:bodyPr lIns="162000" tIns="0" rIns="162000" bIns="90000" anchor="b" anchorCtr="0">
            <a:spAutoFit/>
          </a:bodyPr>
          <a:lstStyle>
            <a:lvl1pPr marL="0" indent="0" algn="r">
              <a:lnSpc>
                <a:spcPct val="104000"/>
              </a:lnSpc>
              <a:spcBef>
                <a:spcPts val="0"/>
              </a:spcBef>
              <a:buNone/>
              <a:defRPr sz="800">
                <a:latin typeface="Nationalbank" panose="020B0503040000020004" pitchFamily="2" charset="0"/>
              </a:defRPr>
            </a:lvl1pPr>
          </a:lstStyle>
          <a:p>
            <a:r>
              <a:rPr lang="da-DK" dirty="0" smtClean="0"/>
              <a:t>Note: (note her).    Kilde: (kilde her).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29609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farvede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2FBE2-C715-4E55-A984-A1F5B0474237}" type="datetime2">
              <a:rPr lang="da-DK" smtClean="0"/>
              <a:t>5. marts 2015</a:t>
            </a:fld>
            <a:endParaRPr lang="da-DK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 smtClean="0"/>
              <a:t>Titel her</a:t>
            </a:r>
            <a:endParaRPr lang="da-DK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D571-D5B5-4AEC-8538-4D4253B2ABF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24800" y="1350000"/>
            <a:ext cx="2664000" cy="4612650"/>
          </a:xfrm>
          <a:prstGeom prst="roundRect">
            <a:avLst>
              <a:gd name="adj" fmla="val 3228"/>
            </a:avLst>
          </a:prstGeom>
          <a:gradFill>
            <a:gsLst>
              <a:gs pos="0">
                <a:schemeClr val="tx2">
                  <a:gamma/>
                  <a:tint val="73725"/>
                  <a:invGamma/>
                </a:schemeClr>
              </a:gs>
              <a:gs pos="100000">
                <a:schemeClr val="tx1"/>
              </a:gs>
            </a:gsLst>
            <a:lin ang="5400000" scaled="1"/>
          </a:gradFill>
        </p:spPr>
        <p:txBody>
          <a:bodyPr lIns="126000" tIns="126000" rIns="126000"/>
          <a:lstStyle>
            <a:lvl1pPr marL="0" indent="0">
              <a:lnSpc>
                <a:spcPct val="76000"/>
              </a:lnSpc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Nationalbank" panose="020B0503040000020004" pitchFamily="2" charset="0"/>
              </a:defRPr>
            </a:lvl1pPr>
            <a:lvl2pPr marL="183600">
              <a:lnSpc>
                <a:spcPct val="102000"/>
              </a:lnSpc>
              <a:spcBef>
                <a:spcPts val="800"/>
              </a:spcBef>
              <a:defRPr>
                <a:solidFill>
                  <a:schemeClr val="bg1"/>
                </a:solidFill>
                <a:latin typeface="Nationalbank" panose="020B0503040000020004" pitchFamily="2" charset="0"/>
              </a:defRPr>
            </a:lvl2pPr>
            <a:lvl3pPr marL="540000">
              <a:defRPr>
                <a:solidFill>
                  <a:schemeClr val="bg1"/>
                </a:solidFill>
                <a:latin typeface="Nationalbank" panose="020B0503040000020004" pitchFamily="2" charset="0"/>
              </a:defRPr>
            </a:lvl3pPr>
            <a:lvl4pPr marL="900000">
              <a:defRPr>
                <a:solidFill>
                  <a:schemeClr val="bg1"/>
                </a:solidFill>
                <a:latin typeface="Nationalbank" panose="020B0503040000020004" pitchFamily="2" charset="0"/>
              </a:defRPr>
            </a:lvl4pPr>
            <a:lvl5pPr marL="1263600">
              <a:defRPr>
                <a:solidFill>
                  <a:schemeClr val="bg1"/>
                </a:solidFill>
                <a:latin typeface="Nationalbank" panose="020B0503040000020004" pitchFamily="2" charset="0"/>
              </a:defRPr>
            </a:lvl5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239675" y="1350000"/>
            <a:ext cx="2662650" cy="4612650"/>
          </a:xfrm>
          <a:prstGeom prst="roundRect">
            <a:avLst>
              <a:gd name="adj" fmla="val 3228"/>
            </a:avLst>
          </a:prstGeom>
          <a:gradFill>
            <a:gsLst>
              <a:gs pos="0">
                <a:srgbClr val="4380B7"/>
              </a:gs>
              <a:gs pos="100000">
                <a:schemeClr val="accent6"/>
              </a:gs>
            </a:gsLst>
            <a:lin ang="5400000" scaled="1"/>
          </a:gradFill>
        </p:spPr>
        <p:txBody>
          <a:bodyPr lIns="126000" tIns="126000" rIns="126000"/>
          <a:lstStyle>
            <a:lvl1pPr marL="0" indent="0">
              <a:lnSpc>
                <a:spcPct val="76000"/>
              </a:lnSpc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Nationalbank" panose="020B0503040000020004" pitchFamily="2" charset="0"/>
              </a:defRPr>
            </a:lvl1pPr>
            <a:lvl2pPr marL="183600">
              <a:lnSpc>
                <a:spcPct val="102000"/>
              </a:lnSpc>
              <a:spcBef>
                <a:spcPts val="800"/>
              </a:spcBef>
              <a:defRPr>
                <a:solidFill>
                  <a:schemeClr val="bg1"/>
                </a:solidFill>
                <a:latin typeface="Nationalbank" panose="020B0503040000020004" pitchFamily="2" charset="0"/>
              </a:defRPr>
            </a:lvl2pPr>
            <a:lvl3pPr marL="540000">
              <a:defRPr>
                <a:solidFill>
                  <a:schemeClr val="bg1"/>
                </a:solidFill>
                <a:latin typeface="Nationalbank" panose="020B0503040000020004" pitchFamily="2" charset="0"/>
              </a:defRPr>
            </a:lvl3pPr>
            <a:lvl4pPr marL="900000">
              <a:defRPr>
                <a:solidFill>
                  <a:schemeClr val="bg1"/>
                </a:solidFill>
                <a:latin typeface="Nationalbank" panose="020B0503040000020004" pitchFamily="2" charset="0"/>
              </a:defRPr>
            </a:lvl4pPr>
            <a:lvl5pPr marL="1263600">
              <a:defRPr>
                <a:solidFill>
                  <a:schemeClr val="bg1"/>
                </a:solidFill>
                <a:latin typeface="Nationalbank" panose="020B0503040000020004" pitchFamily="2" charset="0"/>
              </a:defRPr>
            </a:lvl5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056314" y="1350000"/>
            <a:ext cx="2662236" cy="4612650"/>
          </a:xfrm>
          <a:prstGeom prst="roundRect">
            <a:avLst>
              <a:gd name="adj" fmla="val 3228"/>
            </a:avLst>
          </a:prstGeom>
          <a:gradFill>
            <a:gsLst>
              <a:gs pos="0">
                <a:srgbClr val="43B0D2"/>
              </a:gs>
              <a:gs pos="100000">
                <a:schemeClr val="accent3"/>
              </a:gs>
            </a:gsLst>
            <a:lin ang="5400000" scaled="1"/>
          </a:gradFill>
        </p:spPr>
        <p:txBody>
          <a:bodyPr lIns="126000" tIns="126000" rIns="126000"/>
          <a:lstStyle>
            <a:lvl1pPr marL="0" indent="0">
              <a:lnSpc>
                <a:spcPct val="76000"/>
              </a:lnSpc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latin typeface="Nationalbank" panose="020B0503040000020004" pitchFamily="2" charset="0"/>
              </a:defRPr>
            </a:lvl1pPr>
            <a:lvl2pPr marL="183600">
              <a:lnSpc>
                <a:spcPct val="102000"/>
              </a:lnSpc>
              <a:spcBef>
                <a:spcPts val="800"/>
              </a:spcBef>
              <a:defRPr>
                <a:solidFill>
                  <a:schemeClr val="bg1"/>
                </a:solidFill>
                <a:latin typeface="Nationalbank" panose="020B0503040000020004" pitchFamily="2" charset="0"/>
              </a:defRPr>
            </a:lvl2pPr>
            <a:lvl3pPr marL="540000">
              <a:defRPr>
                <a:solidFill>
                  <a:schemeClr val="bg1"/>
                </a:solidFill>
                <a:latin typeface="Nationalbank" panose="020B0503040000020004" pitchFamily="2" charset="0"/>
              </a:defRPr>
            </a:lvl3pPr>
            <a:lvl4pPr marL="900000">
              <a:defRPr>
                <a:solidFill>
                  <a:schemeClr val="bg1"/>
                </a:solidFill>
                <a:latin typeface="Nationalbank" panose="020B0503040000020004" pitchFamily="2" charset="0"/>
              </a:defRPr>
            </a:lvl4pPr>
            <a:lvl5pPr marL="1263600">
              <a:defRPr>
                <a:solidFill>
                  <a:schemeClr val="bg1"/>
                </a:solidFill>
                <a:latin typeface="Nationalbank" panose="020B0503040000020004" pitchFamily="2" charset="0"/>
              </a:defRPr>
            </a:lvl5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08331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D9A873-A7B4-42CA-9CA4-B2367022A049}" type="datetime2">
              <a:rPr lang="da-DK" smtClean="0"/>
              <a:t>5. marts 2015</a:t>
            </a:fld>
            <a:endParaRPr lang="da-DK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Titel her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9FF218-2C1D-4B9D-807E-6D69108B9DB8}" type="slidenum">
              <a:rPr lang="da-DK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09661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877CE5-F534-4D66-A68B-424FC9F7E478}" type="datetime2">
              <a:rPr lang="da-DK" smtClean="0"/>
              <a:t>5. marts 2015</a:t>
            </a:fld>
            <a:endParaRPr lang="da-DK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Titel 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16DB5A-07CD-4D3E-8C48-86BC941952DB}" type="slidenum">
              <a:rPr lang="da-DK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404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Rectangle 2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23863" y="1352550"/>
            <a:ext cx="8294687" cy="461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smtClean="0"/>
              <a:t>Klik for at redigere teksttypografierne i masteren.</a:t>
            </a:r>
          </a:p>
          <a:p>
            <a:pPr lvl="1"/>
            <a:r>
              <a:rPr lang="da-DK" dirty="0" smtClean="0"/>
              <a:t>Andet niveau</a:t>
            </a:r>
          </a:p>
          <a:p>
            <a:pPr lvl="2"/>
            <a:r>
              <a:rPr lang="da-DK" dirty="0" smtClean="0"/>
              <a:t>Tredje niveau</a:t>
            </a:r>
          </a:p>
          <a:p>
            <a:pPr lvl="3"/>
            <a:r>
              <a:rPr lang="da-DK" dirty="0" smtClean="0"/>
              <a:t>Fjerde niveau</a:t>
            </a:r>
          </a:p>
          <a:p>
            <a:pPr lvl="4"/>
            <a:r>
              <a:rPr lang="da-DK" dirty="0" smtClean="0"/>
              <a:t>Femte niveau</a:t>
            </a:r>
          </a:p>
        </p:txBody>
      </p:sp>
      <p:sp>
        <p:nvSpPr>
          <p:cNvPr id="1052" name="Rectangle 2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706553" y="5962650"/>
            <a:ext cx="20113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C3C3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C3C3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3C3C3C"/>
                </a:solidFill>
                <a:latin typeface="Nationalbank" panose="020B0503040000020004" pitchFamily="2" charset="0"/>
              </a:defRPr>
            </a:lvl1pPr>
          </a:lstStyle>
          <a:p>
            <a:fld id="{CB32E2C3-C91B-46E0-9E6F-9D8D324150D1}" type="datetime2">
              <a:rPr lang="da-DK" smtClean="0"/>
              <a:t>5. marts 2015</a:t>
            </a:fld>
            <a:endParaRPr lang="da-DK" dirty="0"/>
          </a:p>
        </p:txBody>
      </p:sp>
      <p:sp>
        <p:nvSpPr>
          <p:cNvPr id="1053" name="Rectangle 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93328" y="6388100"/>
            <a:ext cx="6224587" cy="325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C3C3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C3C3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rgbClr val="3C3C3C"/>
                </a:solidFill>
                <a:latin typeface="Nationalbank" panose="020B0503040000020004" pitchFamily="2" charset="0"/>
              </a:defRPr>
            </a:lvl1pPr>
          </a:lstStyle>
          <a:p>
            <a:r>
              <a:rPr lang="da-DK" dirty="0" smtClean="0"/>
              <a:t>Titel her</a:t>
            </a:r>
            <a:endParaRPr lang="da-DK" dirty="0"/>
          </a:p>
        </p:txBody>
      </p:sp>
      <p:sp>
        <p:nvSpPr>
          <p:cNvPr id="1054" name="Rectangle 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6553" y="119063"/>
            <a:ext cx="2011362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C3C3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C3C3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3C3C3C"/>
                </a:solidFill>
                <a:latin typeface="Nationalbank" panose="020B0503040000020004" pitchFamily="2" charset="0"/>
              </a:defRPr>
            </a:lvl1pPr>
          </a:lstStyle>
          <a:p>
            <a:fld id="{1334D571-D5B5-4AEC-8538-4D4253B2ABF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056" name="Rectangle 32"/>
          <p:cNvSpPr>
            <a:spLocks noGrp="1" noChangeArrowheads="1"/>
          </p:cNvSpPr>
          <p:nvPr>
            <p:ph type="title"/>
          </p:nvPr>
        </p:nvSpPr>
        <p:spPr bwMode="auto">
          <a:xfrm>
            <a:off x="423863" y="290513"/>
            <a:ext cx="8294687" cy="814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C3C3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C3C3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smtClean="0"/>
              <a:t>Klik for at </a:t>
            </a:r>
            <a:br>
              <a:rPr lang="da-DK" dirty="0" smtClean="0"/>
            </a:br>
            <a:r>
              <a:rPr lang="da-DK" dirty="0" smtClean="0"/>
              <a:t>redigere titeltypografi i masteren</a:t>
            </a:r>
          </a:p>
        </p:txBody>
      </p:sp>
      <p:sp>
        <p:nvSpPr>
          <p:cNvPr id="1057" name="Line 33"/>
          <p:cNvSpPr>
            <a:spLocks noChangeShapeType="1"/>
          </p:cNvSpPr>
          <p:nvPr/>
        </p:nvSpPr>
        <p:spPr bwMode="auto">
          <a:xfrm flipV="1">
            <a:off x="415925" y="1190625"/>
            <a:ext cx="8726488" cy="1588"/>
          </a:xfrm>
          <a:prstGeom prst="line">
            <a:avLst/>
          </a:prstGeom>
          <a:noFill/>
          <a:ln w="19050">
            <a:solidFill>
              <a:srgbClr val="FF002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a-DK" dirty="0"/>
          </a:p>
        </p:txBody>
      </p:sp>
      <p:pic>
        <p:nvPicPr>
          <p:cNvPr id="2" name="Billede 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24" y="6117209"/>
            <a:ext cx="1511808" cy="5608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  <p:sldLayoutId id="2147483652" r:id="rId4"/>
    <p:sldLayoutId id="2147483656" r:id="rId5"/>
    <p:sldLayoutId id="2147483658" r:id="rId6"/>
    <p:sldLayoutId id="2147483654" r:id="rId7"/>
    <p:sldLayoutId id="2147483655" r:id="rId8"/>
  </p:sldLayoutIdLst>
  <p:hf hdr="0" ft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rgbClr val="3C3C3C"/>
          </a:solidFill>
          <a:latin typeface="Nationalbank" panose="020B0503040000020004" pitchFamily="2" charset="0"/>
          <a:ea typeface="+mj-ea"/>
          <a:cs typeface="+mj-cs"/>
        </a:defRPr>
      </a:lvl1pPr>
      <a:lvl2pPr algn="l" rtl="0" eaLnBrk="1" fontAlgn="base" hangingPunct="1">
        <a:lnSpc>
          <a:spcPts val="3200"/>
        </a:lnSpc>
        <a:spcBef>
          <a:spcPct val="0"/>
        </a:spcBef>
        <a:spcAft>
          <a:spcPct val="0"/>
        </a:spcAft>
        <a:defRPr sz="2800" b="1">
          <a:solidFill>
            <a:srgbClr val="3C3C3C"/>
          </a:solidFill>
          <a:latin typeface="Frutiger 45 Light" pitchFamily="2" charset="0"/>
        </a:defRPr>
      </a:lvl2pPr>
      <a:lvl3pPr algn="l" rtl="0" eaLnBrk="1" fontAlgn="base" hangingPunct="1">
        <a:lnSpc>
          <a:spcPts val="3200"/>
        </a:lnSpc>
        <a:spcBef>
          <a:spcPct val="0"/>
        </a:spcBef>
        <a:spcAft>
          <a:spcPct val="0"/>
        </a:spcAft>
        <a:defRPr sz="2800" b="1">
          <a:solidFill>
            <a:srgbClr val="3C3C3C"/>
          </a:solidFill>
          <a:latin typeface="Frutiger 45 Light" pitchFamily="2" charset="0"/>
        </a:defRPr>
      </a:lvl3pPr>
      <a:lvl4pPr algn="l" rtl="0" eaLnBrk="1" fontAlgn="base" hangingPunct="1">
        <a:lnSpc>
          <a:spcPts val="3200"/>
        </a:lnSpc>
        <a:spcBef>
          <a:spcPct val="0"/>
        </a:spcBef>
        <a:spcAft>
          <a:spcPct val="0"/>
        </a:spcAft>
        <a:defRPr sz="2800" b="1">
          <a:solidFill>
            <a:srgbClr val="3C3C3C"/>
          </a:solidFill>
          <a:latin typeface="Frutiger 45 Light" pitchFamily="2" charset="0"/>
        </a:defRPr>
      </a:lvl4pPr>
      <a:lvl5pPr algn="l" rtl="0" eaLnBrk="1" fontAlgn="base" hangingPunct="1">
        <a:lnSpc>
          <a:spcPts val="3200"/>
        </a:lnSpc>
        <a:spcBef>
          <a:spcPct val="0"/>
        </a:spcBef>
        <a:spcAft>
          <a:spcPct val="0"/>
        </a:spcAft>
        <a:defRPr sz="2800" b="1">
          <a:solidFill>
            <a:srgbClr val="3C3C3C"/>
          </a:solidFill>
          <a:latin typeface="Frutiger 45 Light" pitchFamily="2" charset="0"/>
        </a:defRPr>
      </a:lvl5pPr>
      <a:lvl6pPr marL="457200" algn="l" rtl="0" eaLnBrk="1" fontAlgn="base" hangingPunct="1">
        <a:lnSpc>
          <a:spcPts val="3200"/>
        </a:lnSpc>
        <a:spcBef>
          <a:spcPct val="0"/>
        </a:spcBef>
        <a:spcAft>
          <a:spcPct val="0"/>
        </a:spcAft>
        <a:defRPr sz="2800" b="1">
          <a:solidFill>
            <a:srgbClr val="3C3C3C"/>
          </a:solidFill>
          <a:latin typeface="Frutiger 45 Light" pitchFamily="2" charset="0"/>
        </a:defRPr>
      </a:lvl6pPr>
      <a:lvl7pPr marL="914400" algn="l" rtl="0" eaLnBrk="1" fontAlgn="base" hangingPunct="1">
        <a:lnSpc>
          <a:spcPts val="3200"/>
        </a:lnSpc>
        <a:spcBef>
          <a:spcPct val="0"/>
        </a:spcBef>
        <a:spcAft>
          <a:spcPct val="0"/>
        </a:spcAft>
        <a:defRPr sz="2800" b="1">
          <a:solidFill>
            <a:srgbClr val="3C3C3C"/>
          </a:solidFill>
          <a:latin typeface="Frutiger 45 Light" pitchFamily="2" charset="0"/>
        </a:defRPr>
      </a:lvl7pPr>
      <a:lvl8pPr marL="1371600" algn="l" rtl="0" eaLnBrk="1" fontAlgn="base" hangingPunct="1">
        <a:lnSpc>
          <a:spcPts val="3200"/>
        </a:lnSpc>
        <a:spcBef>
          <a:spcPct val="0"/>
        </a:spcBef>
        <a:spcAft>
          <a:spcPct val="0"/>
        </a:spcAft>
        <a:defRPr sz="2800" b="1">
          <a:solidFill>
            <a:srgbClr val="3C3C3C"/>
          </a:solidFill>
          <a:latin typeface="Frutiger 45 Light" pitchFamily="2" charset="0"/>
        </a:defRPr>
      </a:lvl8pPr>
      <a:lvl9pPr marL="1828800" algn="l" rtl="0" eaLnBrk="1" fontAlgn="base" hangingPunct="1">
        <a:lnSpc>
          <a:spcPts val="3200"/>
        </a:lnSpc>
        <a:spcBef>
          <a:spcPct val="0"/>
        </a:spcBef>
        <a:spcAft>
          <a:spcPct val="0"/>
        </a:spcAft>
        <a:defRPr sz="2800" b="1">
          <a:solidFill>
            <a:srgbClr val="3C3C3C"/>
          </a:solidFill>
          <a:latin typeface="Frutiger 45 Light" pitchFamily="2" charset="0"/>
        </a:defRPr>
      </a:lvl9pPr>
    </p:titleStyle>
    <p:bodyStyle>
      <a:lvl1pPr marL="228600" indent="-228600" algn="l" rtl="0" eaLnBrk="1" fontAlgn="base" hangingPunct="1">
        <a:lnSpc>
          <a:spcPct val="102000"/>
        </a:lnSpc>
        <a:spcBef>
          <a:spcPts val="2000"/>
        </a:spcBef>
        <a:spcAft>
          <a:spcPct val="0"/>
        </a:spcAft>
        <a:buChar char="•"/>
        <a:defRPr sz="2200">
          <a:solidFill>
            <a:schemeClr val="tx1"/>
          </a:solidFill>
          <a:latin typeface="Nationalbank" panose="020B0503040000020004" pitchFamily="2" charset="0"/>
          <a:ea typeface="+mn-ea"/>
          <a:cs typeface="+mn-cs"/>
        </a:defRPr>
      </a:lvl1pPr>
      <a:lvl2pPr marL="541338" indent="-184150" algn="l" rtl="0" eaLnBrk="1" fontAlgn="base" hangingPunct="1">
        <a:lnSpc>
          <a:spcPct val="93000"/>
        </a:lnSpc>
        <a:spcBef>
          <a:spcPts val="400"/>
        </a:spcBef>
        <a:spcAft>
          <a:spcPct val="0"/>
        </a:spcAft>
        <a:buChar char="•"/>
        <a:defRPr>
          <a:solidFill>
            <a:schemeClr val="tx1"/>
          </a:solidFill>
          <a:latin typeface="Nationalbank" panose="020B0503040000020004" pitchFamily="2" charset="0"/>
        </a:defRPr>
      </a:lvl2pPr>
      <a:lvl3pPr marL="900113" indent="-180975" algn="l" rtl="0" eaLnBrk="1" fontAlgn="base" hangingPunct="1">
        <a:lnSpc>
          <a:spcPct val="100000"/>
        </a:lnSpc>
        <a:spcBef>
          <a:spcPts val="500"/>
        </a:spcBef>
        <a:spcAft>
          <a:spcPct val="0"/>
        </a:spcAft>
        <a:buChar char="•"/>
        <a:defRPr sz="1500">
          <a:solidFill>
            <a:schemeClr val="tx1"/>
          </a:solidFill>
          <a:latin typeface="Nationalbank" panose="020B0503040000020004" pitchFamily="2" charset="0"/>
        </a:defRPr>
      </a:lvl3pPr>
      <a:lvl4pPr marL="1262063" indent="-180975" algn="l" rtl="0" eaLnBrk="1" fontAlgn="base" hangingPunct="1">
        <a:lnSpc>
          <a:spcPct val="111000"/>
        </a:lnSpc>
        <a:spcBef>
          <a:spcPts val="500"/>
        </a:spcBef>
        <a:spcAft>
          <a:spcPct val="0"/>
        </a:spcAft>
        <a:buChar char="•"/>
        <a:defRPr sz="1200">
          <a:solidFill>
            <a:schemeClr val="tx1"/>
          </a:solidFill>
          <a:latin typeface="Nationalbank" panose="020B0503040000020004" pitchFamily="2" charset="0"/>
        </a:defRPr>
      </a:lvl4pPr>
      <a:lvl5pPr marL="1622425" indent="-180975" algn="l" rtl="0" eaLnBrk="1" fontAlgn="base" hangingPunct="1">
        <a:lnSpc>
          <a:spcPct val="117000"/>
        </a:lnSpc>
        <a:spcBef>
          <a:spcPts val="500"/>
        </a:spcBef>
        <a:spcAft>
          <a:spcPct val="0"/>
        </a:spcAft>
        <a:buChar char="•"/>
        <a:defRPr sz="1000">
          <a:solidFill>
            <a:schemeClr val="tx1"/>
          </a:solidFill>
          <a:latin typeface="Nationalbank" panose="020B0503040000020004" pitchFamily="2" charset="0"/>
        </a:defRPr>
      </a:lvl5pPr>
      <a:lvl6pPr marL="2079625" indent="-180975" algn="l" rtl="0" eaLnBrk="1" fontAlgn="base" hangingPunct="1">
        <a:lnSpc>
          <a:spcPts val="1400"/>
        </a:lnSpc>
        <a:spcBef>
          <a:spcPts val="500"/>
        </a:spcBef>
        <a:spcAft>
          <a:spcPct val="0"/>
        </a:spcAft>
        <a:buChar char="•"/>
        <a:defRPr sz="1000">
          <a:solidFill>
            <a:schemeClr val="tx1"/>
          </a:solidFill>
          <a:latin typeface="+mn-lt"/>
        </a:defRPr>
      </a:lvl6pPr>
      <a:lvl7pPr marL="2536825" indent="-180975" algn="l" rtl="0" eaLnBrk="1" fontAlgn="base" hangingPunct="1">
        <a:lnSpc>
          <a:spcPts val="1400"/>
        </a:lnSpc>
        <a:spcBef>
          <a:spcPts val="500"/>
        </a:spcBef>
        <a:spcAft>
          <a:spcPct val="0"/>
        </a:spcAft>
        <a:buChar char="•"/>
        <a:defRPr sz="1000">
          <a:solidFill>
            <a:schemeClr val="tx1"/>
          </a:solidFill>
          <a:latin typeface="+mn-lt"/>
        </a:defRPr>
      </a:lvl7pPr>
      <a:lvl8pPr marL="2994025" indent="-180975" algn="l" rtl="0" eaLnBrk="1" fontAlgn="base" hangingPunct="1">
        <a:lnSpc>
          <a:spcPts val="1400"/>
        </a:lnSpc>
        <a:spcBef>
          <a:spcPts val="500"/>
        </a:spcBef>
        <a:spcAft>
          <a:spcPct val="0"/>
        </a:spcAft>
        <a:buChar char="•"/>
        <a:defRPr sz="1000">
          <a:solidFill>
            <a:schemeClr val="tx1"/>
          </a:solidFill>
          <a:latin typeface="+mn-lt"/>
        </a:defRPr>
      </a:lvl8pPr>
      <a:lvl9pPr marL="3451225" indent="-180975" algn="l" rtl="0" eaLnBrk="1" fontAlgn="base" hangingPunct="1">
        <a:lnSpc>
          <a:spcPts val="1400"/>
        </a:lnSpc>
        <a:spcBef>
          <a:spcPts val="500"/>
        </a:spcBef>
        <a:spcAft>
          <a:spcPct val="0"/>
        </a:spcAft>
        <a:buChar char="•"/>
        <a:defRPr sz="1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325" name="Picture 13" descr="S-10x25-006-L3015176_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49488"/>
            <a:ext cx="9144000" cy="371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9315" name="Rectangle 3"/>
          <p:cNvSpPr>
            <a:spLocks noChangeArrowheads="1"/>
          </p:cNvSpPr>
          <p:nvPr/>
        </p:nvSpPr>
        <p:spPr bwMode="auto">
          <a:xfrm>
            <a:off x="0" y="2249488"/>
            <a:ext cx="9144000" cy="325437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36000" tIns="0" rIns="0" bIns="0" anchor="ctr"/>
          <a:lstStyle/>
          <a:p>
            <a:endParaRPr lang="da-DK">
              <a:latin typeface="Verdana" pitchFamily="34" charset="0"/>
              <a:ea typeface="ＭＳ Ｐゴシック" charset="-128"/>
            </a:endParaRPr>
          </a:p>
        </p:txBody>
      </p:sp>
      <p:sp>
        <p:nvSpPr>
          <p:cNvPr id="2693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23863" y="1327150"/>
            <a:ext cx="8643936" cy="920750"/>
          </a:xfrm>
        </p:spPr>
        <p:txBody>
          <a:bodyPr/>
          <a:lstStyle/>
          <a:p>
            <a:r>
              <a:rPr lang="en-US" sz="2800" dirty="0" smtClean="0"/>
              <a:t>sovereign Asset and liability Management in a decentralized environment</a:t>
            </a:r>
            <a:endParaRPr lang="da-DK" sz="2800" dirty="0"/>
          </a:p>
        </p:txBody>
      </p:sp>
      <p:sp>
        <p:nvSpPr>
          <p:cNvPr id="6" name="Tekstboks 5"/>
          <p:cNvSpPr txBox="1"/>
          <p:nvPr/>
        </p:nvSpPr>
        <p:spPr>
          <a:xfrm>
            <a:off x="2562224" y="6172200"/>
            <a:ext cx="650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/>
              <a:t>Ib Hansen, Head of Systemic Risk Analysis and Models.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7129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Balance sheet objectives</a:t>
            </a:r>
            <a:endParaRPr lang="en-US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3"/>
          </p:nvPr>
        </p:nvSpPr>
        <p:spPr>
          <a:xfrm>
            <a:off x="480060" y="1836420"/>
            <a:ext cx="8238490" cy="412878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All share the common objectives of a macroeconomic stability oriented framework:</a:t>
            </a:r>
          </a:p>
          <a:p>
            <a:pPr marL="0" indent="0">
              <a:buNone/>
            </a:pPr>
            <a:endParaRPr lang="en-US" sz="2000" dirty="0" smtClean="0"/>
          </a:p>
          <a:p>
            <a:pPr marL="228600" lvl="2" indent="-228600">
              <a:lnSpc>
                <a:spcPct val="102000"/>
              </a:lnSpc>
              <a:spcBef>
                <a:spcPts val="2000"/>
              </a:spcBef>
            </a:pPr>
            <a:r>
              <a:rPr lang="en-US" sz="1800" dirty="0" smtClean="0"/>
              <a:t>Fixed exchange rate to the euro</a:t>
            </a:r>
          </a:p>
          <a:p>
            <a:pPr marL="228600" lvl="2" indent="-228600">
              <a:lnSpc>
                <a:spcPct val="102000"/>
              </a:lnSpc>
              <a:spcBef>
                <a:spcPts val="2000"/>
              </a:spcBef>
            </a:pPr>
            <a:r>
              <a:rPr lang="en-GB" altLang="da-DK" sz="1800" dirty="0" smtClean="0"/>
              <a:t>Sustainable </a:t>
            </a:r>
            <a:r>
              <a:rPr lang="en-GB" altLang="da-DK" sz="1800" dirty="0"/>
              <a:t>medium term fiscal </a:t>
            </a:r>
            <a:r>
              <a:rPr lang="en-GB" altLang="da-DK" sz="1800" dirty="0" smtClean="0"/>
              <a:t>orientation</a:t>
            </a:r>
            <a:endParaRPr lang="en-GB" altLang="da-DK" sz="1800" dirty="0"/>
          </a:p>
          <a:p>
            <a:pPr marL="0" indent="0">
              <a:buNone/>
            </a:pP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8A7D-E4B8-437D-8C64-1C7D8E5C384C}" type="slidenum">
              <a:rPr lang="da-DK" smtClean="0"/>
              <a:pPr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44967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da-DK" dirty="0"/>
              <a:t>Objectives </a:t>
            </a:r>
            <a:r>
              <a:rPr lang="en-GB" altLang="da-DK" dirty="0" smtClean="0"/>
              <a:t>of the </a:t>
            </a:r>
            <a:r>
              <a:rPr lang="en-GB" altLang="da-DK" dirty="0"/>
              <a:t>C</a:t>
            </a:r>
            <a:r>
              <a:rPr lang="en-GB" altLang="da-DK" dirty="0" smtClean="0"/>
              <a:t>entral </a:t>
            </a:r>
            <a:r>
              <a:rPr lang="en-GB" altLang="da-DK" dirty="0"/>
              <a:t>B</a:t>
            </a:r>
            <a:r>
              <a:rPr lang="en-GB" altLang="da-DK" dirty="0" smtClean="0"/>
              <a:t>ank </a:t>
            </a:r>
            <a:r>
              <a:rPr lang="en-GB" altLang="da-DK" dirty="0"/>
              <a:t>and </a:t>
            </a:r>
            <a:r>
              <a:rPr lang="en-GB" altLang="da-DK" dirty="0" smtClean="0"/>
              <a:t>the DMO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3"/>
          </p:nvPr>
        </p:nvSpPr>
        <p:spPr>
          <a:xfrm>
            <a:off x="423863" y="1653540"/>
            <a:ext cx="8294687" cy="431166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da-DK" sz="2000" dirty="0"/>
              <a:t>Central </a:t>
            </a:r>
            <a:r>
              <a:rPr lang="en-GB" altLang="da-DK" sz="2000" dirty="0" smtClean="0"/>
              <a:t>Bank </a:t>
            </a:r>
            <a:r>
              <a:rPr lang="en-GB" altLang="da-DK" sz="2000" dirty="0"/>
              <a:t>and DMO have both common and exclusive objectives </a:t>
            </a:r>
            <a:r>
              <a:rPr lang="en-GB" altLang="da-DK" sz="2000" dirty="0">
                <a:sym typeface="Symbol" pitchFamily="18" charset="2"/>
              </a:rPr>
              <a:t> scope for some coordination</a:t>
            </a:r>
          </a:p>
          <a:p>
            <a:pPr>
              <a:lnSpc>
                <a:spcPct val="125000"/>
              </a:lnSpc>
            </a:pPr>
            <a:r>
              <a:rPr lang="en-GB" altLang="da-DK" sz="2000" dirty="0"/>
              <a:t>Central bank:</a:t>
            </a:r>
            <a:r>
              <a:rPr lang="en-GB" altLang="da-DK" sz="24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GB" altLang="da-DK" dirty="0" smtClean="0"/>
              <a:t>Fixed exchange-rate </a:t>
            </a:r>
            <a:r>
              <a:rPr lang="en-GB" altLang="da-DK" dirty="0"/>
              <a:t>policy against the euro </a:t>
            </a:r>
            <a:r>
              <a:rPr lang="en-GB" altLang="da-DK" dirty="0" smtClean="0"/>
              <a:t>(foreign </a:t>
            </a:r>
            <a:r>
              <a:rPr lang="en-GB" altLang="da-DK" dirty="0"/>
              <a:t>exchange reserve)</a:t>
            </a:r>
          </a:p>
          <a:p>
            <a:pPr lvl="1">
              <a:lnSpc>
                <a:spcPct val="90000"/>
              </a:lnSpc>
            </a:pPr>
            <a:r>
              <a:rPr lang="en-GB" altLang="da-DK" dirty="0"/>
              <a:t>Financial stability (low level of risk appetite)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GB" altLang="da-DK" sz="2000" dirty="0"/>
              <a:t>Debt management: </a:t>
            </a:r>
          </a:p>
          <a:p>
            <a:pPr lvl="1">
              <a:lnSpc>
                <a:spcPct val="90000"/>
              </a:lnSpc>
            </a:pPr>
            <a:r>
              <a:rPr lang="en-GB" altLang="da-DK" dirty="0" smtClean="0"/>
              <a:t>Finance government deficit </a:t>
            </a:r>
          </a:p>
          <a:p>
            <a:pPr lvl="1">
              <a:lnSpc>
                <a:spcPct val="90000"/>
              </a:lnSpc>
            </a:pPr>
            <a:r>
              <a:rPr lang="en-GB" altLang="da-DK" dirty="0" smtClean="0"/>
              <a:t>Finance currency reserve </a:t>
            </a:r>
          </a:p>
          <a:p>
            <a:pPr lvl="1">
              <a:lnSpc>
                <a:spcPct val="90000"/>
              </a:lnSpc>
            </a:pPr>
            <a:r>
              <a:rPr lang="en-GB" altLang="da-DK" dirty="0" smtClean="0"/>
              <a:t>Low </a:t>
            </a:r>
            <a:r>
              <a:rPr lang="en-GB" altLang="da-DK" dirty="0"/>
              <a:t>long term </a:t>
            </a:r>
            <a:r>
              <a:rPr lang="en-GB" altLang="da-DK" dirty="0" smtClean="0"/>
              <a:t>costs </a:t>
            </a:r>
            <a:r>
              <a:rPr lang="en-GB" altLang="da-DK" dirty="0"/>
              <a:t>taking risks into account</a:t>
            </a:r>
          </a:p>
          <a:p>
            <a:pPr lvl="1">
              <a:lnSpc>
                <a:spcPct val="90000"/>
              </a:lnSpc>
            </a:pPr>
            <a:r>
              <a:rPr lang="en-GB" altLang="da-DK" dirty="0"/>
              <a:t>Facilitate access to the financial markets in the longer term</a:t>
            </a:r>
          </a:p>
          <a:p>
            <a:pPr lvl="1">
              <a:lnSpc>
                <a:spcPct val="90000"/>
              </a:lnSpc>
            </a:pPr>
            <a:r>
              <a:rPr lang="en-GB" altLang="da-DK" dirty="0"/>
              <a:t>Support well-functioning domestic financial market, monetary policy and financial </a:t>
            </a:r>
            <a:r>
              <a:rPr lang="en-GB" altLang="da-DK" dirty="0" smtClean="0"/>
              <a:t>stability</a:t>
            </a:r>
          </a:p>
          <a:p>
            <a:endParaRPr lang="da-DK" sz="2000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>
          <a:xfrm>
            <a:off x="6801803" y="6524626"/>
            <a:ext cx="2011362" cy="257175"/>
          </a:xfrm>
        </p:spPr>
        <p:txBody>
          <a:bodyPr/>
          <a:lstStyle/>
          <a:p>
            <a:fld id="{85ED8A7D-E4B8-437D-8C64-1C7D8E5C384C}" type="slidenum">
              <a:rPr lang="da-DK" smtClean="0"/>
              <a:pPr/>
              <a:t>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0427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da-DK" dirty="0"/>
              <a:t>Coordination of exchange-rate risk </a:t>
            </a:r>
            <a:r>
              <a:rPr lang="en-GB" altLang="da-DK" dirty="0" smtClean="0"/>
              <a:t>on Government </a:t>
            </a:r>
            <a:r>
              <a:rPr lang="en-GB" altLang="da-DK" dirty="0"/>
              <a:t>debt and </a:t>
            </a:r>
            <a:r>
              <a:rPr lang="en-GB" altLang="da-DK" dirty="0" smtClean="0"/>
              <a:t>FOREX-reserves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3"/>
          </p:nvPr>
        </p:nvSpPr>
        <p:spPr>
          <a:xfrm>
            <a:off x="423863" y="1402080"/>
            <a:ext cx="8294687" cy="4144020"/>
          </a:xfrm>
        </p:spPr>
        <p:txBody>
          <a:bodyPr/>
          <a:lstStyle/>
          <a:p>
            <a:pPr>
              <a:spcBef>
                <a:spcPct val="30000"/>
              </a:spcBef>
              <a:spcAft>
                <a:spcPct val="25000"/>
              </a:spcAft>
            </a:pPr>
            <a:r>
              <a:rPr lang="en-GB" altLang="da-DK" sz="2000" dirty="0"/>
              <a:t>B</a:t>
            </a:r>
            <a:r>
              <a:rPr lang="en-GB" altLang="da-DK" sz="2000" dirty="0" smtClean="0"/>
              <a:t>enefits </a:t>
            </a:r>
            <a:r>
              <a:rPr lang="en-GB" altLang="da-DK" sz="2000" dirty="0"/>
              <a:t>from coordinating exchange-rate risk</a:t>
            </a:r>
          </a:p>
          <a:p>
            <a:pPr>
              <a:spcBef>
                <a:spcPct val="30000"/>
              </a:spcBef>
              <a:spcAft>
                <a:spcPct val="25000"/>
              </a:spcAft>
            </a:pPr>
            <a:r>
              <a:rPr lang="en-GB" altLang="da-DK" sz="2000" dirty="0"/>
              <a:t>Government borrows in foreign currency to supplement the central bank foreign-exchange </a:t>
            </a:r>
            <a:r>
              <a:rPr lang="en-GB" altLang="da-DK" sz="2000" dirty="0" smtClean="0"/>
              <a:t>reserve (peg of DKK to the Euro)</a:t>
            </a:r>
            <a:endParaRPr lang="en-GB" altLang="da-DK" sz="2000" dirty="0"/>
          </a:p>
          <a:p>
            <a:pPr>
              <a:spcBef>
                <a:spcPct val="30000"/>
              </a:spcBef>
              <a:spcAft>
                <a:spcPct val="25000"/>
              </a:spcAft>
            </a:pPr>
            <a:r>
              <a:rPr lang="en-GB" altLang="da-DK" sz="2000" dirty="0"/>
              <a:t>When separating the management of assets from liabilities – potentially large net exposures</a:t>
            </a:r>
          </a:p>
          <a:p>
            <a:pPr>
              <a:spcBef>
                <a:spcPct val="30000"/>
              </a:spcBef>
              <a:spcAft>
                <a:spcPct val="25000"/>
              </a:spcAft>
            </a:pPr>
            <a:r>
              <a:rPr lang="en-GB" altLang="da-DK" sz="2000" dirty="0"/>
              <a:t>Objective: </a:t>
            </a:r>
            <a:r>
              <a:rPr lang="en-GB" altLang="da-DK" sz="2000" dirty="0" smtClean="0"/>
              <a:t> </a:t>
            </a:r>
          </a:p>
          <a:p>
            <a:pPr lvl="1">
              <a:spcBef>
                <a:spcPct val="30000"/>
              </a:spcBef>
              <a:spcAft>
                <a:spcPct val="25000"/>
              </a:spcAft>
            </a:pPr>
            <a:r>
              <a:rPr lang="en-GB" altLang="da-DK" dirty="0" smtClean="0"/>
              <a:t>Avoid borrowing in one currency and investing in another </a:t>
            </a:r>
          </a:p>
          <a:p>
            <a:pPr lvl="1">
              <a:spcBef>
                <a:spcPct val="30000"/>
              </a:spcBef>
              <a:spcAft>
                <a:spcPct val="25000"/>
              </a:spcAft>
            </a:pPr>
            <a:r>
              <a:rPr lang="en-GB" altLang="da-DK" dirty="0" smtClean="0"/>
              <a:t>Manage gross </a:t>
            </a:r>
            <a:r>
              <a:rPr lang="en-GB" altLang="da-DK" dirty="0" err="1" smtClean="0"/>
              <a:t>currenct</a:t>
            </a:r>
            <a:r>
              <a:rPr lang="en-GB" altLang="da-DK" dirty="0" smtClean="0"/>
              <a:t> exposure</a:t>
            </a:r>
            <a:endParaRPr lang="en-GB" altLang="da-DK" dirty="0"/>
          </a:p>
          <a:p>
            <a:pPr lvl="1">
              <a:spcBef>
                <a:spcPct val="30000"/>
              </a:spcBef>
              <a:spcAft>
                <a:spcPct val="25000"/>
              </a:spcAft>
            </a:pPr>
            <a:r>
              <a:rPr lang="en-GB" altLang="da-DK" dirty="0" smtClean="0"/>
              <a:t>Currency swaps and forwards to manage currency exposure</a:t>
            </a:r>
          </a:p>
          <a:p>
            <a:pPr>
              <a:spcBef>
                <a:spcPct val="30000"/>
              </a:spcBef>
              <a:spcAft>
                <a:spcPct val="25000"/>
              </a:spcAft>
            </a:pPr>
            <a:r>
              <a:rPr lang="en-GB" altLang="da-DK" sz="2000" dirty="0" smtClean="0"/>
              <a:t>No forecast of future exchange rates</a:t>
            </a:r>
            <a:endParaRPr lang="en-GB" altLang="da-DK" sz="2000" dirty="0"/>
          </a:p>
          <a:p>
            <a:endParaRPr lang="da-DK" sz="2000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8A7D-E4B8-437D-8C64-1C7D8E5C384C}" type="slidenum">
              <a:rPr lang="da-DK" smtClean="0"/>
              <a:pPr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49760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Two</a:t>
            </a:r>
            <a:r>
              <a:rPr lang="da-DK" dirty="0" smtClean="0"/>
              <a:t> types of </a:t>
            </a:r>
            <a:r>
              <a:rPr lang="da-DK" dirty="0" err="1" smtClean="0"/>
              <a:t>curency</a:t>
            </a:r>
            <a:r>
              <a:rPr lang="da-DK" dirty="0" smtClean="0"/>
              <a:t> </a:t>
            </a:r>
            <a:r>
              <a:rPr lang="da-DK" dirty="0" err="1" smtClean="0"/>
              <a:t>movements</a:t>
            </a:r>
            <a:r>
              <a:rPr lang="da-DK" dirty="0" smtClean="0"/>
              <a:t> 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b="1" dirty="0" err="1" smtClean="0"/>
              <a:t>Own</a:t>
            </a:r>
            <a:r>
              <a:rPr lang="da-DK" b="1" dirty="0" smtClean="0"/>
              <a:t> </a:t>
            </a:r>
            <a:r>
              <a:rPr lang="da-DK" b="1" dirty="0" err="1" smtClean="0"/>
              <a:t>currency</a:t>
            </a:r>
            <a:r>
              <a:rPr lang="da-DK" b="1" dirty="0" smtClean="0"/>
              <a:t> vs. the rest </a:t>
            </a:r>
          </a:p>
          <a:p>
            <a:r>
              <a:rPr lang="da-DK" dirty="0" err="1" smtClean="0"/>
              <a:t>Unavoidable</a:t>
            </a:r>
            <a:r>
              <a:rPr lang="da-DK" dirty="0" smtClean="0"/>
              <a:t> </a:t>
            </a:r>
            <a:r>
              <a:rPr lang="da-DK" dirty="0" err="1" smtClean="0"/>
              <a:t>risk</a:t>
            </a:r>
            <a:r>
              <a:rPr lang="da-DK" dirty="0" smtClean="0"/>
              <a:t> </a:t>
            </a:r>
            <a:r>
              <a:rPr lang="da-DK" dirty="0" err="1" smtClean="0"/>
              <a:t>asscocated</a:t>
            </a:r>
            <a:r>
              <a:rPr lang="da-DK" dirty="0" smtClean="0"/>
              <a:t> with FX </a:t>
            </a:r>
            <a:r>
              <a:rPr lang="da-DK" dirty="0" err="1" smtClean="0"/>
              <a:t>borrowing</a:t>
            </a:r>
            <a:r>
              <a:rPr lang="da-DK" dirty="0" smtClean="0"/>
              <a:t>/</a:t>
            </a:r>
            <a:r>
              <a:rPr lang="da-DK" dirty="0" err="1" smtClean="0"/>
              <a:t>investing</a:t>
            </a:r>
            <a:endParaRPr lang="da-DK" dirty="0" smtClean="0"/>
          </a:p>
          <a:p>
            <a:r>
              <a:rPr lang="da-DK" dirty="0" err="1" smtClean="0"/>
              <a:t>Reflect</a:t>
            </a:r>
            <a:r>
              <a:rPr lang="da-DK" dirty="0" smtClean="0"/>
              <a:t> </a:t>
            </a:r>
            <a:r>
              <a:rPr lang="da-DK" dirty="0" err="1" smtClean="0"/>
              <a:t>exposure</a:t>
            </a:r>
            <a:r>
              <a:rPr lang="da-DK" dirty="0" smtClean="0"/>
              <a:t> </a:t>
            </a:r>
            <a:r>
              <a:rPr lang="da-DK" dirty="0" err="1" smtClean="0"/>
              <a:t>against</a:t>
            </a:r>
            <a:r>
              <a:rPr lang="da-DK" dirty="0" smtClean="0"/>
              <a:t> </a:t>
            </a:r>
            <a:r>
              <a:rPr lang="da-DK" dirty="0" err="1" smtClean="0"/>
              <a:t>risk</a:t>
            </a:r>
            <a:r>
              <a:rPr lang="da-DK" dirty="0" smtClean="0"/>
              <a:t> </a:t>
            </a:r>
            <a:r>
              <a:rPr lang="da-DK" dirty="0" err="1" smtClean="0"/>
              <a:t>minimizing</a:t>
            </a:r>
            <a:r>
              <a:rPr lang="da-DK" dirty="0" smtClean="0"/>
              <a:t> basket. </a:t>
            </a:r>
          </a:p>
          <a:p>
            <a:r>
              <a:rPr lang="da-DK" dirty="0" smtClean="0"/>
              <a:t>In Denmark: </a:t>
            </a:r>
          </a:p>
          <a:p>
            <a:pPr lvl="1"/>
            <a:r>
              <a:rPr lang="da-DK" dirty="0" err="1" smtClean="0"/>
              <a:t>Risk</a:t>
            </a:r>
            <a:r>
              <a:rPr lang="da-DK" dirty="0" smtClean="0"/>
              <a:t> vs Euro </a:t>
            </a:r>
          </a:p>
          <a:p>
            <a:pPr lvl="1"/>
            <a:r>
              <a:rPr lang="da-DK" dirty="0" smtClean="0"/>
              <a:t>Not so simple in </a:t>
            </a:r>
            <a:r>
              <a:rPr lang="da-DK" dirty="0" err="1" smtClean="0"/>
              <a:t>other</a:t>
            </a:r>
            <a:r>
              <a:rPr lang="da-DK" dirty="0" smtClean="0"/>
              <a:t> cases</a:t>
            </a:r>
          </a:p>
          <a:p>
            <a:r>
              <a:rPr lang="da-DK" dirty="0" smtClean="0"/>
              <a:t> </a:t>
            </a:r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6613" y="1352550"/>
            <a:ext cx="4497387" cy="4610100"/>
          </a:xfrm>
        </p:spPr>
        <p:txBody>
          <a:bodyPr/>
          <a:lstStyle/>
          <a:p>
            <a:r>
              <a:rPr lang="da-DK" b="1" dirty="0" err="1" smtClean="0"/>
              <a:t>Other</a:t>
            </a:r>
            <a:r>
              <a:rPr lang="da-DK" b="1" dirty="0" smtClean="0"/>
              <a:t> </a:t>
            </a:r>
            <a:r>
              <a:rPr lang="da-DK" b="1" dirty="0" err="1" smtClean="0"/>
              <a:t>currencies</a:t>
            </a:r>
            <a:r>
              <a:rPr lang="da-DK" b="1" dirty="0" smtClean="0"/>
              <a:t> vs. </a:t>
            </a:r>
            <a:r>
              <a:rPr lang="da-DK" b="1" dirty="0" err="1" smtClean="0"/>
              <a:t>eachother</a:t>
            </a:r>
            <a:r>
              <a:rPr lang="da-DK" b="1" dirty="0" smtClean="0"/>
              <a:t> </a:t>
            </a:r>
          </a:p>
          <a:p>
            <a:r>
              <a:rPr lang="da-DK" dirty="0" err="1" smtClean="0"/>
              <a:t>Avoidable</a:t>
            </a:r>
            <a:r>
              <a:rPr lang="da-DK" dirty="0" smtClean="0"/>
              <a:t> </a:t>
            </a:r>
          </a:p>
          <a:p>
            <a:r>
              <a:rPr lang="da-DK" dirty="0" err="1" smtClean="0"/>
              <a:t>Reflect</a:t>
            </a:r>
            <a:r>
              <a:rPr lang="da-DK" dirty="0" smtClean="0"/>
              <a:t> </a:t>
            </a:r>
            <a:r>
              <a:rPr lang="da-DK" dirty="0" err="1" smtClean="0"/>
              <a:t>risk</a:t>
            </a:r>
            <a:r>
              <a:rPr lang="da-DK" dirty="0" smtClean="0"/>
              <a:t> </a:t>
            </a:r>
            <a:r>
              <a:rPr lang="da-DK" dirty="0" err="1" smtClean="0"/>
              <a:t>reward</a:t>
            </a:r>
            <a:r>
              <a:rPr lang="da-DK" dirty="0" smtClean="0"/>
              <a:t> </a:t>
            </a:r>
            <a:r>
              <a:rPr lang="da-DK" dirty="0" err="1" smtClean="0"/>
              <a:t>tradeoff</a:t>
            </a:r>
            <a:r>
              <a:rPr lang="da-DK" dirty="0" smtClean="0"/>
              <a:t>. </a:t>
            </a:r>
            <a:endParaRPr lang="da-DK" dirty="0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4E38-0C8A-4847-93C5-7D8AC68D3F6C}" type="slidenum">
              <a:rPr lang="da-DK" smtClean="0"/>
              <a:pPr/>
              <a:t>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1197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Borrowing</a:t>
            </a:r>
            <a:r>
              <a:rPr lang="da-DK" dirty="0" smtClean="0"/>
              <a:t> to </a:t>
            </a:r>
            <a:r>
              <a:rPr lang="da-DK" dirty="0" err="1" smtClean="0"/>
              <a:t>fill</a:t>
            </a:r>
            <a:r>
              <a:rPr lang="da-DK" dirty="0" smtClean="0"/>
              <a:t> the </a:t>
            </a:r>
            <a:r>
              <a:rPr lang="da-DK" dirty="0" err="1" smtClean="0"/>
              <a:t>currency</a:t>
            </a:r>
            <a:r>
              <a:rPr lang="da-DK" dirty="0" smtClean="0"/>
              <a:t> reserve:</a:t>
            </a:r>
            <a:br>
              <a:rPr lang="da-DK" dirty="0" smtClean="0"/>
            </a:br>
            <a:r>
              <a:rPr lang="da-DK" dirty="0" err="1" smtClean="0"/>
              <a:t>Avoid</a:t>
            </a:r>
            <a:r>
              <a:rPr lang="da-DK" dirty="0" smtClean="0"/>
              <a:t> large net </a:t>
            </a:r>
            <a:r>
              <a:rPr lang="da-DK" dirty="0" err="1" smtClean="0"/>
              <a:t>exposure</a:t>
            </a:r>
            <a:r>
              <a:rPr lang="da-DK" dirty="0" smtClean="0"/>
              <a:t> </a:t>
            </a:r>
            <a:endParaRPr lang="da-DK" dirty="0"/>
          </a:p>
        </p:txBody>
      </p:sp>
      <p:sp>
        <p:nvSpPr>
          <p:cNvPr id="3" name="Pladsholder til dias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D571-D5B5-4AEC-8538-4D4253B2ABFE}" type="slidenum">
              <a:rPr lang="da-DK" smtClean="0"/>
              <a:pPr/>
              <a:t>6</a:t>
            </a:fld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349229"/>
              </p:ext>
            </p:extLst>
          </p:nvPr>
        </p:nvGraphicFramePr>
        <p:xfrm>
          <a:off x="619125" y="1901825"/>
          <a:ext cx="7667624" cy="227647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16906"/>
                <a:gridCol w="1916906"/>
                <a:gridCol w="1916906"/>
                <a:gridCol w="1916906"/>
              </a:tblGrid>
              <a:tr h="422275">
                <a:tc>
                  <a:txBody>
                    <a:bodyPr/>
                    <a:lstStyle/>
                    <a:p>
                      <a:r>
                        <a:rPr lang="da-DK" dirty="0" err="1" smtClean="0"/>
                        <a:t>Currency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Central</a:t>
                      </a:r>
                      <a:r>
                        <a:rPr lang="da-DK" baseline="0" dirty="0" smtClean="0"/>
                        <a:t> bank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 smtClean="0"/>
                        <a:t>Government</a:t>
                      </a:r>
                      <a:r>
                        <a:rPr lang="da-DK" dirty="0" smtClean="0"/>
                        <a:t> 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Net</a:t>
                      </a:r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smtClean="0"/>
                        <a:t>DKK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-10 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+10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0</a:t>
                      </a:r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smtClean="0"/>
                        <a:t>EUR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+10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+10</a:t>
                      </a:r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smtClean="0"/>
                        <a:t>USD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 smtClean="0"/>
                        <a:t>-10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-10</a:t>
                      </a:r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smtClean="0"/>
                        <a:t>JPY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smtClean="0"/>
                        <a:t>GBP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999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Avoid</a:t>
            </a:r>
            <a:r>
              <a:rPr lang="da-DK" dirty="0" smtClean="0"/>
              <a:t> </a:t>
            </a:r>
            <a:r>
              <a:rPr lang="da-DK" dirty="0"/>
              <a:t>large </a:t>
            </a:r>
            <a:r>
              <a:rPr lang="da-DK" dirty="0" err="1" smtClean="0"/>
              <a:t>gross</a:t>
            </a:r>
            <a:r>
              <a:rPr lang="da-DK" dirty="0" smtClean="0"/>
              <a:t> </a:t>
            </a:r>
            <a:r>
              <a:rPr lang="da-DK" dirty="0" err="1" smtClean="0"/>
              <a:t>exposure</a:t>
            </a:r>
            <a:r>
              <a:rPr lang="da-DK" dirty="0" smtClean="0"/>
              <a:t> in </a:t>
            </a:r>
            <a:r>
              <a:rPr lang="da-DK" dirty="0" err="1" smtClean="0"/>
              <a:t>high</a:t>
            </a:r>
            <a:r>
              <a:rPr lang="da-DK" dirty="0" smtClean="0"/>
              <a:t> </a:t>
            </a:r>
            <a:r>
              <a:rPr lang="da-DK" dirty="0" err="1" smtClean="0"/>
              <a:t>risk</a:t>
            </a:r>
            <a:r>
              <a:rPr lang="da-DK" dirty="0" smtClean="0"/>
              <a:t> </a:t>
            </a:r>
            <a:r>
              <a:rPr lang="da-DK" dirty="0" err="1" smtClean="0"/>
              <a:t>currencies</a:t>
            </a:r>
            <a:r>
              <a:rPr lang="da-DK" dirty="0" smtClean="0"/>
              <a:t> </a:t>
            </a:r>
            <a:endParaRPr lang="da-DK" dirty="0"/>
          </a:p>
        </p:txBody>
      </p:sp>
      <p:sp>
        <p:nvSpPr>
          <p:cNvPr id="3" name="Pladsholder til dias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D571-D5B5-4AEC-8538-4D4253B2ABFE}" type="slidenum">
              <a:rPr lang="da-DK" smtClean="0"/>
              <a:pPr/>
              <a:t>7</a:t>
            </a:fld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597630"/>
              </p:ext>
            </p:extLst>
          </p:nvPr>
        </p:nvGraphicFramePr>
        <p:xfrm>
          <a:off x="619125" y="1901825"/>
          <a:ext cx="7667624" cy="227647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16906"/>
                <a:gridCol w="1916906"/>
                <a:gridCol w="1916906"/>
                <a:gridCol w="1916906"/>
              </a:tblGrid>
              <a:tr h="422275">
                <a:tc>
                  <a:txBody>
                    <a:bodyPr/>
                    <a:lstStyle/>
                    <a:p>
                      <a:r>
                        <a:rPr lang="da-DK" dirty="0" err="1" smtClean="0"/>
                        <a:t>Currency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Central</a:t>
                      </a:r>
                      <a:r>
                        <a:rPr lang="da-DK" baseline="0" dirty="0" smtClean="0"/>
                        <a:t> bank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 smtClean="0"/>
                        <a:t>Government</a:t>
                      </a:r>
                      <a:r>
                        <a:rPr lang="da-DK" dirty="0" smtClean="0"/>
                        <a:t> 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Net</a:t>
                      </a:r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smtClean="0"/>
                        <a:t>DKK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-10 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+10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0</a:t>
                      </a:r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smtClean="0"/>
                        <a:t>EUR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0</a:t>
                      </a:r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smtClean="0"/>
                        <a:t>USD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 smtClean="0"/>
                        <a:t>+10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 smtClean="0"/>
                        <a:t>-10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0</a:t>
                      </a:r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smtClean="0"/>
                        <a:t>JPY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smtClean="0"/>
                        <a:t>GBP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91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Small net and </a:t>
            </a:r>
            <a:r>
              <a:rPr lang="da-DK" dirty="0" err="1" smtClean="0"/>
              <a:t>gross</a:t>
            </a:r>
            <a:r>
              <a:rPr lang="da-DK" dirty="0" smtClean="0"/>
              <a:t> </a:t>
            </a:r>
            <a:r>
              <a:rPr lang="da-DK" dirty="0" err="1" smtClean="0"/>
              <a:t>exposure</a:t>
            </a:r>
            <a:r>
              <a:rPr lang="da-DK" dirty="0" smtClean="0"/>
              <a:t> </a:t>
            </a:r>
            <a:endParaRPr lang="da-DK" dirty="0"/>
          </a:p>
        </p:txBody>
      </p:sp>
      <p:sp>
        <p:nvSpPr>
          <p:cNvPr id="3" name="Pladsholder til dias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D571-D5B5-4AEC-8538-4D4253B2ABFE}" type="slidenum">
              <a:rPr lang="da-DK" smtClean="0"/>
              <a:pPr/>
              <a:t>8</a:t>
            </a:fld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117095"/>
              </p:ext>
            </p:extLst>
          </p:nvPr>
        </p:nvGraphicFramePr>
        <p:xfrm>
          <a:off x="619125" y="1901825"/>
          <a:ext cx="7667624" cy="227647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16906"/>
                <a:gridCol w="1916906"/>
                <a:gridCol w="1916906"/>
                <a:gridCol w="1916906"/>
              </a:tblGrid>
              <a:tr h="422275">
                <a:tc>
                  <a:txBody>
                    <a:bodyPr/>
                    <a:lstStyle/>
                    <a:p>
                      <a:r>
                        <a:rPr lang="da-DK" dirty="0" err="1" smtClean="0"/>
                        <a:t>Currency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Central</a:t>
                      </a:r>
                      <a:r>
                        <a:rPr lang="da-DK" baseline="0" dirty="0" smtClean="0"/>
                        <a:t> bank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 smtClean="0"/>
                        <a:t>Government</a:t>
                      </a:r>
                      <a:r>
                        <a:rPr lang="da-DK" dirty="0" smtClean="0"/>
                        <a:t> 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Net</a:t>
                      </a:r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smtClean="0"/>
                        <a:t>DKK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-10 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+10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0</a:t>
                      </a:r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smtClean="0"/>
                        <a:t>EUR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+10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-10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0</a:t>
                      </a:r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smtClean="0"/>
                        <a:t>USD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smtClean="0"/>
                        <a:t>JPY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smtClean="0"/>
                        <a:t>GBP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32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exchange </a:t>
            </a:r>
            <a:r>
              <a:rPr lang="en-US" dirty="0" smtClean="0"/>
              <a:t>exposure </a:t>
            </a:r>
            <a:r>
              <a:rPr lang="en-US" dirty="0"/>
              <a:t>before and after coordination </a:t>
            </a:r>
            <a:endParaRPr lang="da-DK" dirty="0"/>
          </a:p>
        </p:txBody>
      </p:sp>
      <p:graphicFrame>
        <p:nvGraphicFramePr>
          <p:cNvPr id="4" name="Diagram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1525170"/>
              </p:ext>
            </p:extLst>
          </p:nvPr>
        </p:nvGraphicFramePr>
        <p:xfrm>
          <a:off x="647700" y="1420920"/>
          <a:ext cx="7888606" cy="4544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Pladsholder til dias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8A7D-E4B8-437D-8C64-1C7D8E5C384C}" type="slidenum">
              <a:rPr lang="da-DK" smtClean="0"/>
              <a:pPr/>
              <a:t>9</a:t>
            </a:fld>
            <a:endParaRPr lang="da-DK" dirty="0"/>
          </a:p>
        </p:txBody>
      </p:sp>
      <p:cxnSp>
        <p:nvCxnSpPr>
          <p:cNvPr id="5" name="Lige forbindelse 4"/>
          <p:cNvCxnSpPr/>
          <p:nvPr/>
        </p:nvCxnSpPr>
        <p:spPr bwMode="auto">
          <a:xfrm flipV="1">
            <a:off x="3733800" y="1885950"/>
            <a:ext cx="0" cy="3219450"/>
          </a:xfrm>
          <a:prstGeom prst="line">
            <a:avLst/>
          </a:prstGeom>
          <a:solidFill>
            <a:srgbClr val="80808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Lige pilforbindelse 6"/>
          <p:cNvCxnSpPr/>
          <p:nvPr/>
        </p:nvCxnSpPr>
        <p:spPr bwMode="auto">
          <a:xfrm>
            <a:off x="3905250" y="2009775"/>
            <a:ext cx="752475" cy="0"/>
          </a:xfrm>
          <a:prstGeom prst="straightConnector1">
            <a:avLst/>
          </a:prstGeom>
          <a:solidFill>
            <a:srgbClr val="80808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5413375" y="2601912"/>
            <a:ext cx="0" cy="2808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5655182" y="4405312"/>
            <a:ext cx="6831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da-DK" altLang="da-DK" sz="2000" dirty="0"/>
              <a:t>Euro</a:t>
            </a: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5700713" y="4960937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714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a-DK" dirty="0" smtClean="0"/>
              <a:t>Management </a:t>
            </a:r>
            <a:r>
              <a:rPr lang="en-US" altLang="da-DK" dirty="0"/>
              <a:t>of other currency risks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3"/>
          </p:nvPr>
        </p:nvSpPr>
        <p:spPr>
          <a:xfrm>
            <a:off x="423863" y="1515525"/>
            <a:ext cx="8294687" cy="46116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da-DK" sz="2000" dirty="0"/>
              <a:t>Ministry of </a:t>
            </a:r>
            <a:r>
              <a:rPr lang="en-US" altLang="da-DK" sz="2000" dirty="0" smtClean="0"/>
              <a:t>Defense has to hedge </a:t>
            </a:r>
            <a:r>
              <a:rPr lang="en-US" altLang="da-DK" sz="2000" dirty="0"/>
              <a:t>the krone value of future military procurements in US dollars </a:t>
            </a:r>
            <a:r>
              <a:rPr lang="en-US" altLang="da-DK" sz="2000" dirty="0" smtClean="0"/>
              <a:t>via forward contracts with the </a:t>
            </a:r>
            <a:r>
              <a:rPr lang="en-US" altLang="da-DK" sz="2000" dirty="0"/>
              <a:t>C</a:t>
            </a:r>
            <a:r>
              <a:rPr lang="en-US" altLang="da-DK" sz="2000" dirty="0" smtClean="0"/>
              <a:t>entral </a:t>
            </a:r>
            <a:r>
              <a:rPr lang="en-US" altLang="da-DK" sz="2000" dirty="0"/>
              <a:t>B</a:t>
            </a:r>
            <a:r>
              <a:rPr lang="en-US" altLang="da-DK" sz="2000" dirty="0" smtClean="0"/>
              <a:t>ank</a:t>
            </a:r>
            <a:endParaRPr lang="en-US" altLang="da-DK" sz="2000" dirty="0"/>
          </a:p>
          <a:p>
            <a:pPr lvl="1">
              <a:spcBef>
                <a:spcPct val="50000"/>
              </a:spcBef>
            </a:pPr>
            <a:r>
              <a:rPr lang="en-US" altLang="da-DK" dirty="0"/>
              <a:t>Avoid asymmetric budget response to currency movements</a:t>
            </a:r>
          </a:p>
          <a:p>
            <a:pPr>
              <a:spcBef>
                <a:spcPct val="50000"/>
              </a:spcBef>
            </a:pPr>
            <a:r>
              <a:rPr lang="en-US" altLang="da-DK" sz="2000" dirty="0"/>
              <a:t>Re-lending in US dollars to Ship Finance is hedged </a:t>
            </a:r>
            <a:r>
              <a:rPr lang="en-US" altLang="da-DK" sz="2000" dirty="0" smtClean="0"/>
              <a:t>by the DMO </a:t>
            </a:r>
            <a:r>
              <a:rPr lang="en-US" altLang="da-DK" sz="2000" dirty="0"/>
              <a:t>via currency swaps in the </a:t>
            </a:r>
            <a:r>
              <a:rPr lang="en-US" altLang="da-DK" sz="2000" dirty="0" smtClean="0"/>
              <a:t>market</a:t>
            </a:r>
            <a:endParaRPr lang="en-US" altLang="da-DK" sz="2000" dirty="0"/>
          </a:p>
          <a:p>
            <a:pPr>
              <a:spcBef>
                <a:spcPct val="50000"/>
              </a:spcBef>
            </a:pPr>
            <a:r>
              <a:rPr lang="en-US" altLang="da-DK" sz="2000" dirty="0" smtClean="0"/>
              <a:t>Rules from the DMO/MOF   limit the possibilities for unhedged FOREX-exposures for State-owned Enterprises (only DDK or sometimes Euro) </a:t>
            </a:r>
          </a:p>
          <a:p>
            <a:pPr lvl="1">
              <a:spcBef>
                <a:spcPct val="50000"/>
              </a:spcBef>
            </a:pPr>
            <a:r>
              <a:rPr lang="en-US" altLang="da-DK" dirty="0" smtClean="0"/>
              <a:t>Reports from the Board of SOEs and External Auditors</a:t>
            </a:r>
            <a:endParaRPr lang="da-DK" sz="2000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8A7D-E4B8-437D-8C64-1C7D8E5C384C}" type="slidenum">
              <a:rPr lang="da-DK" smtClean="0"/>
              <a:pPr/>
              <a:t>10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95399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altLang="da-DK" dirty="0" err="1"/>
              <a:t>Risk</a:t>
            </a:r>
            <a:r>
              <a:rPr lang="da-DK" altLang="da-DK" dirty="0"/>
              <a:t> Management </a:t>
            </a:r>
            <a:endParaRPr lang="da-DK" dirty="0"/>
          </a:p>
        </p:txBody>
      </p:sp>
      <p:sp>
        <p:nvSpPr>
          <p:cNvPr id="7" name="Text Box 15"/>
          <p:cNvSpPr txBox="1">
            <a:spLocks noChangeArrowheads="1"/>
          </p:cNvSpPr>
          <p:nvPr/>
        </p:nvSpPr>
        <p:spPr bwMode="auto">
          <a:xfrm>
            <a:off x="7488237" y="1404718"/>
            <a:ext cx="1419226" cy="646331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da-DK" altLang="da-DK" sz="1800" dirty="0">
                <a:latin typeface="Nationalbank" panose="020B0503040000020004" pitchFamily="34" charset="0"/>
              </a:rPr>
              <a:t>7. </a:t>
            </a:r>
            <a:r>
              <a:rPr lang="da-DK" altLang="da-DK" sz="1800" dirty="0" err="1">
                <a:latin typeface="Nationalbank" panose="020B0503040000020004" pitchFamily="34" charset="0"/>
              </a:rPr>
              <a:t>Other</a:t>
            </a:r>
            <a:r>
              <a:rPr lang="da-DK" altLang="da-DK" sz="1800" dirty="0">
                <a:latin typeface="Nationalbank" panose="020B0503040000020004" pitchFamily="34" charset="0"/>
              </a:rPr>
              <a:t> </a:t>
            </a:r>
            <a:r>
              <a:rPr lang="da-DK" altLang="da-DK" sz="1800" dirty="0" err="1">
                <a:latin typeface="Nationalbank" panose="020B0503040000020004" pitchFamily="34" charset="0"/>
              </a:rPr>
              <a:t>concerns</a:t>
            </a:r>
            <a:endParaRPr lang="da-DK" altLang="da-DK" sz="1800" dirty="0">
              <a:latin typeface="Nationalbank" panose="020B0503040000020004" pitchFamily="34" charset="0"/>
            </a:endParaRP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2916238" y="4076700"/>
            <a:ext cx="3384550" cy="1512888"/>
          </a:xfrm>
          <a:prstGeom prst="curvedUpArrow">
            <a:avLst>
              <a:gd name="adj1" fmla="val 44743"/>
              <a:gd name="adj2" fmla="val 89486"/>
              <a:gd name="adj3" fmla="val 32032"/>
            </a:avLst>
          </a:prstGeom>
          <a:solidFill>
            <a:srgbClr val="83BD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da-DK" altLang="da-DK"/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 flipH="1">
            <a:off x="2555875" y="2349500"/>
            <a:ext cx="3429000" cy="1600200"/>
          </a:xfrm>
          <a:prstGeom prst="curvedDownArrow">
            <a:avLst>
              <a:gd name="adj1" fmla="val 42857"/>
              <a:gd name="adj2" fmla="val 85714"/>
              <a:gd name="adj3" fmla="val 33333"/>
            </a:avLst>
          </a:prstGeom>
          <a:solidFill>
            <a:srgbClr val="83BD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da-DK" altLang="da-DK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708400" y="1525588"/>
            <a:ext cx="25923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a-DK" altLang="da-DK" sz="1800" dirty="0">
                <a:latin typeface="Nationalbank" panose="020B0503040000020004" pitchFamily="34" charset="0"/>
              </a:rPr>
              <a:t>1. </a:t>
            </a:r>
            <a:r>
              <a:rPr lang="da-DK" altLang="da-DK" sz="1800" dirty="0" err="1">
                <a:latin typeface="Nationalbank" panose="020B0503040000020004" pitchFamily="34" charset="0"/>
              </a:rPr>
              <a:t>Identify</a:t>
            </a:r>
            <a:r>
              <a:rPr lang="da-DK" altLang="da-DK" sz="1800" dirty="0">
                <a:solidFill>
                  <a:srgbClr val="FFFFFF"/>
                </a:solidFill>
                <a:latin typeface="Nationalbank" panose="020B0503040000020004" pitchFamily="34" charset="0"/>
              </a:rPr>
              <a:t> </a:t>
            </a:r>
            <a:r>
              <a:rPr lang="da-DK" altLang="da-DK" sz="1800" dirty="0" err="1">
                <a:latin typeface="Nationalbank" panose="020B0503040000020004" pitchFamily="34" charset="0"/>
              </a:rPr>
              <a:t>objectives</a:t>
            </a:r>
            <a:r>
              <a:rPr lang="da-DK" altLang="da-DK" sz="1800" dirty="0">
                <a:solidFill>
                  <a:srgbClr val="FFFFFF"/>
                </a:solidFill>
                <a:latin typeface="Nationalbank" panose="020B0503040000020004" pitchFamily="34" charset="0"/>
              </a:rPr>
              <a:t>  </a:t>
            </a:r>
            <a:r>
              <a:rPr lang="da-DK" altLang="da-DK" sz="1800" dirty="0">
                <a:latin typeface="Nationalbank" panose="020B0503040000020004" pitchFamily="34" charset="0"/>
              </a:rPr>
              <a:t>and </a:t>
            </a:r>
            <a:r>
              <a:rPr lang="da-DK" altLang="da-DK" sz="1800" dirty="0" err="1">
                <a:latin typeface="Nationalbank" panose="020B0503040000020004" pitchFamily="34" charset="0"/>
              </a:rPr>
              <a:t>constraints</a:t>
            </a:r>
            <a:r>
              <a:rPr lang="da-DK" altLang="da-DK" sz="1800" dirty="0">
                <a:latin typeface="Nationalbank" panose="020B0503040000020004" pitchFamily="34" charset="0"/>
              </a:rPr>
              <a:t> 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042988" y="2205038"/>
            <a:ext cx="16557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a-DK" altLang="da-DK" sz="1800" dirty="0">
                <a:latin typeface="Nationalbank" panose="020B0503040000020004" pitchFamily="34" charset="0"/>
              </a:rPr>
              <a:t>2. </a:t>
            </a:r>
            <a:r>
              <a:rPr lang="da-DK" altLang="da-DK" sz="1800" dirty="0" err="1">
                <a:latin typeface="Nationalbank" panose="020B0503040000020004" pitchFamily="34" charset="0"/>
              </a:rPr>
              <a:t>Identify</a:t>
            </a:r>
            <a:r>
              <a:rPr lang="da-DK" altLang="da-DK" sz="1800" dirty="0">
                <a:solidFill>
                  <a:srgbClr val="FFFFFF"/>
                </a:solidFill>
                <a:latin typeface="Nationalbank" panose="020B0503040000020004" pitchFamily="34" charset="0"/>
              </a:rPr>
              <a:t> </a:t>
            </a:r>
            <a:br>
              <a:rPr lang="da-DK" altLang="da-DK" sz="1800" dirty="0">
                <a:solidFill>
                  <a:srgbClr val="FFFFFF"/>
                </a:solidFill>
                <a:latin typeface="Nationalbank" panose="020B0503040000020004" pitchFamily="34" charset="0"/>
              </a:rPr>
            </a:br>
            <a:r>
              <a:rPr lang="da-DK" altLang="da-DK" sz="1800" dirty="0" err="1">
                <a:latin typeface="Nationalbank" panose="020B0503040000020004" pitchFamily="34" charset="0"/>
              </a:rPr>
              <a:t>risk</a:t>
            </a:r>
            <a:r>
              <a:rPr lang="da-DK" altLang="da-DK" sz="1800" dirty="0">
                <a:latin typeface="Nationalbank" panose="020B0503040000020004" pitchFamily="34" charset="0"/>
              </a:rPr>
              <a:t> factors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2028825" y="5642034"/>
            <a:ext cx="28797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a-DK" altLang="da-DK" sz="1800" dirty="0">
                <a:latin typeface="Nationalbank" panose="020B0503040000020004" pitchFamily="34" charset="0"/>
              </a:rPr>
              <a:t>4. Decisions</a:t>
            </a:r>
            <a:r>
              <a:rPr lang="da-DK" altLang="da-DK" sz="1800" dirty="0">
                <a:solidFill>
                  <a:srgbClr val="FFFFFF"/>
                </a:solidFill>
                <a:latin typeface="Nationalbank" panose="020B0503040000020004" pitchFamily="34" charset="0"/>
              </a:rPr>
              <a:t> </a:t>
            </a:r>
            <a:r>
              <a:rPr lang="da-DK" altLang="da-DK" sz="1800" dirty="0">
                <a:latin typeface="Nationalbank" panose="020B0503040000020004" pitchFamily="34" charset="0"/>
              </a:rPr>
              <a:t>(</a:t>
            </a:r>
            <a:r>
              <a:rPr lang="da-DK" altLang="da-DK" sz="1800" dirty="0" err="1">
                <a:latin typeface="Nationalbank" panose="020B0503040000020004" pitchFamily="34" charset="0"/>
              </a:rPr>
              <a:t>Risk</a:t>
            </a:r>
            <a:r>
              <a:rPr lang="da-DK" altLang="da-DK" sz="1800" dirty="0">
                <a:latin typeface="Nationalbank" panose="020B0503040000020004" pitchFamily="34" charset="0"/>
              </a:rPr>
              <a:t>/</a:t>
            </a:r>
            <a:r>
              <a:rPr lang="da-DK" altLang="da-DK" sz="1800" dirty="0" err="1">
                <a:latin typeface="Nationalbank" panose="020B0503040000020004" pitchFamily="34" charset="0"/>
              </a:rPr>
              <a:t>reward</a:t>
            </a:r>
            <a:r>
              <a:rPr lang="da-DK" altLang="da-DK" sz="1800" dirty="0">
                <a:latin typeface="Nationalbank" panose="020B0503040000020004" pitchFamily="34" charset="0"/>
              </a:rPr>
              <a:t>)</a:t>
            </a:r>
            <a:r>
              <a:rPr lang="da-DK" altLang="da-DK" sz="1800" dirty="0">
                <a:solidFill>
                  <a:srgbClr val="FFFFFF"/>
                </a:solidFill>
                <a:latin typeface="Nationalbank" panose="020B0503040000020004" pitchFamily="34" charset="0"/>
              </a:rPr>
              <a:t> </a:t>
            </a:r>
            <a:r>
              <a:rPr lang="da-DK" altLang="da-DK" sz="1800" dirty="0" err="1">
                <a:latin typeface="Nationalbank" panose="020B0503040000020004" pitchFamily="34" charset="0"/>
              </a:rPr>
              <a:t>tradeoff</a:t>
            </a:r>
            <a:endParaRPr lang="da-DK" altLang="da-DK" sz="1800" dirty="0">
              <a:latin typeface="Nationalbank" panose="020B0503040000020004" pitchFamily="34" charset="0"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5219700" y="5549384"/>
            <a:ext cx="3581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a-DK" altLang="da-DK" sz="1800" dirty="0">
                <a:latin typeface="Nationalbank" panose="020B0503040000020004" pitchFamily="34" charset="0"/>
              </a:rPr>
              <a:t>5. Limits</a:t>
            </a:r>
            <a:r>
              <a:rPr lang="da-DK" altLang="da-DK" sz="1800" dirty="0">
                <a:solidFill>
                  <a:srgbClr val="FFFFFF"/>
                </a:solidFill>
                <a:latin typeface="Nationalbank" panose="020B0503040000020004" pitchFamily="34" charset="0"/>
              </a:rPr>
              <a:t> </a:t>
            </a:r>
            <a:r>
              <a:rPr lang="da-DK" altLang="da-DK" sz="1800" dirty="0">
                <a:latin typeface="Nationalbank" panose="020B0503040000020004" pitchFamily="34" charset="0"/>
              </a:rPr>
              <a:t>and</a:t>
            </a:r>
            <a:r>
              <a:rPr lang="da-DK" altLang="da-DK" sz="1800" dirty="0">
                <a:solidFill>
                  <a:srgbClr val="FFFFFF"/>
                </a:solidFill>
                <a:latin typeface="Nationalbank" panose="020B0503040000020004" pitchFamily="34" charset="0"/>
              </a:rPr>
              <a:t> </a:t>
            </a:r>
            <a:r>
              <a:rPr lang="da-DK" altLang="da-DK" sz="1800" dirty="0">
                <a:latin typeface="Nationalbank" panose="020B0503040000020004" pitchFamily="34" charset="0"/>
              </a:rPr>
              <a:t>benchmarks</a:t>
            </a:r>
            <a:r>
              <a:rPr lang="da-DK" altLang="da-DK" sz="1800" dirty="0">
                <a:solidFill>
                  <a:srgbClr val="FFFFFF"/>
                </a:solidFill>
                <a:latin typeface="Nationalbank" panose="020B0503040000020004" pitchFamily="34" charset="0"/>
              </a:rPr>
              <a:t> </a:t>
            </a:r>
          </a:p>
        </p:txBody>
      </p:sp>
      <p:grpSp>
        <p:nvGrpSpPr>
          <p:cNvPr id="15" name="Group 12"/>
          <p:cNvGrpSpPr>
            <a:grpSpLocks/>
          </p:cNvGrpSpPr>
          <p:nvPr/>
        </p:nvGrpSpPr>
        <p:grpSpPr bwMode="auto">
          <a:xfrm>
            <a:off x="6227763" y="3933825"/>
            <a:ext cx="2286000" cy="838200"/>
            <a:chOff x="4032" y="2832"/>
            <a:chExt cx="1440" cy="528"/>
          </a:xfrm>
          <a:solidFill>
            <a:srgbClr val="83BDFF"/>
          </a:solidFill>
        </p:grpSpPr>
        <p:sp>
          <p:nvSpPr>
            <p:cNvPr id="16" name="AutoShape 13"/>
            <p:cNvSpPr>
              <a:spLocks noChangeArrowheads="1"/>
            </p:cNvSpPr>
            <p:nvPr/>
          </p:nvSpPr>
          <p:spPr bwMode="auto">
            <a:xfrm>
              <a:off x="4032" y="2832"/>
              <a:ext cx="1440" cy="528"/>
            </a:xfrm>
            <a:prstGeom prst="leftArrow">
              <a:avLst>
                <a:gd name="adj1" fmla="val 50000"/>
                <a:gd name="adj2" fmla="val 68182"/>
              </a:avLst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da-DK" altLang="da-DK"/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4291" y="2970"/>
              <a:ext cx="1181" cy="25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da-DK" altLang="da-DK" sz="1800" dirty="0">
                  <a:latin typeface="Nationalbank" panose="020B0503040000020004" pitchFamily="34" charset="0"/>
                </a:rPr>
                <a:t>Transactions</a:t>
              </a:r>
              <a:r>
                <a:rPr lang="da-DK" altLang="da-DK" sz="2000" dirty="0">
                  <a:solidFill>
                    <a:srgbClr val="FFFFFF"/>
                  </a:solidFill>
                </a:rPr>
                <a:t> </a:t>
              </a:r>
            </a:p>
          </p:txBody>
        </p:sp>
      </p:grp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5676900" y="2726392"/>
            <a:ext cx="2667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a-DK" altLang="da-DK" sz="1800" dirty="0">
                <a:latin typeface="Nationalbank" panose="020B0503040000020004" pitchFamily="34" charset="0"/>
              </a:rPr>
              <a:t>6. </a:t>
            </a:r>
            <a:r>
              <a:rPr lang="da-DK" altLang="da-DK" sz="1800" dirty="0" err="1">
                <a:latin typeface="Nationalbank" panose="020B0503040000020004" pitchFamily="34" charset="0"/>
              </a:rPr>
              <a:t>Follow</a:t>
            </a:r>
            <a:r>
              <a:rPr lang="da-DK" altLang="da-DK" sz="1800" dirty="0">
                <a:solidFill>
                  <a:srgbClr val="FFFFFF"/>
                </a:solidFill>
                <a:latin typeface="Nationalbank" panose="020B0503040000020004" pitchFamily="34" charset="0"/>
              </a:rPr>
              <a:t> </a:t>
            </a:r>
            <a:r>
              <a:rPr lang="da-DK" altLang="da-DK" sz="1800" dirty="0">
                <a:latin typeface="Nationalbank" panose="020B0503040000020004" pitchFamily="34" charset="0"/>
              </a:rPr>
              <a:t>up</a:t>
            </a:r>
            <a:r>
              <a:rPr lang="da-DK" altLang="da-DK" sz="1800" dirty="0">
                <a:solidFill>
                  <a:srgbClr val="FFFFFF"/>
                </a:solidFill>
                <a:latin typeface="Nationalbank" panose="020B0503040000020004" pitchFamily="34" charset="0"/>
              </a:rPr>
              <a:t> </a:t>
            </a:r>
            <a:r>
              <a:rPr lang="da-DK" altLang="da-DK" sz="1800" dirty="0">
                <a:latin typeface="Nationalbank" panose="020B0503040000020004" pitchFamily="34" charset="0"/>
              </a:rPr>
              <a:t>(i.e. performance)</a:t>
            </a:r>
            <a:r>
              <a:rPr lang="da-DK" altLang="da-DK" sz="1800" dirty="0">
                <a:solidFill>
                  <a:srgbClr val="FFFFFF"/>
                </a:solidFill>
                <a:latin typeface="Nationalbank" panose="020B0503040000020004" pitchFamily="34" charset="0"/>
              </a:rPr>
              <a:t> </a:t>
            </a:r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468313" y="3860800"/>
            <a:ext cx="24479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da-DK" sz="1800" dirty="0">
                <a:latin typeface="Nationalbank" panose="020B0503040000020004" pitchFamily="34" charset="0"/>
              </a:rPr>
              <a:t>3. Identify consequences and</a:t>
            </a:r>
          </a:p>
          <a:p>
            <a:pPr algn="ctr"/>
            <a:r>
              <a:rPr lang="en-US" altLang="da-DK" sz="1800" dirty="0">
                <a:latin typeface="Nationalbank" panose="020B0503040000020004" pitchFamily="34" charset="0"/>
              </a:rPr>
              <a:t>probabilities </a:t>
            </a:r>
            <a:r>
              <a:rPr lang="da-DK" altLang="da-DK" sz="1800" dirty="0">
                <a:latin typeface="Nationalbank" panose="020B0503040000020004" pitchFamily="34" charset="0"/>
              </a:rPr>
              <a:t> 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6052345" y="3582511"/>
            <a:ext cx="304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a-DK" altLang="da-DK" sz="1800" dirty="0">
                <a:latin typeface="Nationalbank" panose="020B0503040000020004" pitchFamily="34" charset="0"/>
              </a:rPr>
              <a:t>Control (</a:t>
            </a:r>
            <a:r>
              <a:rPr lang="da-DK" altLang="da-DK" sz="1800" dirty="0" err="1">
                <a:latin typeface="Nationalbank" panose="020B0503040000020004" pitchFamily="34" charset="0"/>
              </a:rPr>
              <a:t>compliance</a:t>
            </a:r>
            <a:r>
              <a:rPr lang="da-DK" altLang="da-DK" sz="1800" dirty="0">
                <a:latin typeface="Nationalbank" panose="020B05030400000200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7898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da-DK" dirty="0"/>
              <a:t>Interest-rate risk management </a:t>
            </a:r>
            <a:r>
              <a:rPr lang="en-GB" altLang="da-DK" dirty="0" smtClean="0"/>
              <a:t>for DMO and Central Bank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3"/>
          </p:nvPr>
        </p:nvSpPr>
        <p:spPr>
          <a:xfrm>
            <a:off x="423863" y="1497330"/>
            <a:ext cx="8294687" cy="4067820"/>
          </a:xfrm>
        </p:spPr>
        <p:txBody>
          <a:bodyPr/>
          <a:lstStyle/>
          <a:p>
            <a:r>
              <a:rPr lang="en-US" altLang="da-DK" sz="2000" dirty="0"/>
              <a:t>Differences in objectives makes coordination less explicit</a:t>
            </a:r>
          </a:p>
          <a:p>
            <a:r>
              <a:rPr lang="en-US" altLang="da-DK" sz="2000" dirty="0" smtClean="0"/>
              <a:t>Different accounting rules (market value or nominal value)</a:t>
            </a:r>
          </a:p>
          <a:p>
            <a:r>
              <a:rPr lang="en-US" altLang="da-DK" sz="2000" dirty="0" smtClean="0"/>
              <a:t>Each </a:t>
            </a:r>
            <a:r>
              <a:rPr lang="en-US" altLang="da-DK" sz="2000" dirty="0"/>
              <a:t>institution decides its level of interest-rate risk according to its objectives</a:t>
            </a:r>
          </a:p>
          <a:p>
            <a:pPr lvl="1">
              <a:spcBef>
                <a:spcPct val="50000"/>
              </a:spcBef>
            </a:pPr>
            <a:r>
              <a:rPr lang="en-US" altLang="da-DK" dirty="0"/>
              <a:t>The </a:t>
            </a:r>
            <a:r>
              <a:rPr lang="en-US" altLang="da-DK" dirty="0" smtClean="0"/>
              <a:t>Central Bank normally has low </a:t>
            </a:r>
            <a:r>
              <a:rPr lang="en-US" altLang="da-DK" dirty="0"/>
              <a:t>interest-rate risk </a:t>
            </a:r>
            <a:r>
              <a:rPr lang="en-US" altLang="da-DK" dirty="0" smtClean="0"/>
              <a:t>to </a:t>
            </a:r>
            <a:r>
              <a:rPr lang="en-US" altLang="da-DK" dirty="0"/>
              <a:t>fulfill its policy </a:t>
            </a:r>
            <a:r>
              <a:rPr lang="en-US" altLang="da-DK" dirty="0" smtClean="0"/>
              <a:t>objectives and balance sheet with bank sector counterparts </a:t>
            </a:r>
            <a:endParaRPr lang="en-US" alt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8A7D-E4B8-437D-8C64-1C7D8E5C384C}" type="slidenum">
              <a:rPr lang="da-DK" smtClean="0"/>
              <a:pPr/>
              <a:t>12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7772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da-DK" dirty="0"/>
              <a:t>Interest-rate risk management at </a:t>
            </a:r>
            <a:r>
              <a:rPr lang="en-GB" altLang="da-DK" dirty="0" smtClean="0"/>
              <a:t>Danish DMO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3"/>
          </p:nvPr>
        </p:nvSpPr>
        <p:spPr>
          <a:xfrm>
            <a:off x="423863" y="1242060"/>
            <a:ext cx="8294687" cy="4723140"/>
          </a:xfrm>
        </p:spPr>
        <p:txBody>
          <a:bodyPr/>
          <a:lstStyle/>
          <a:p>
            <a:r>
              <a:rPr lang="en-GB" altLang="da-DK" sz="2000" dirty="0" smtClean="0"/>
              <a:t>On a consolidated basis, i.e. both assets and liabilities taken into account</a:t>
            </a:r>
          </a:p>
          <a:p>
            <a:r>
              <a:rPr lang="en-US" altLang="da-DK" sz="2000" dirty="0"/>
              <a:t>Liabilities:</a:t>
            </a:r>
          </a:p>
          <a:p>
            <a:pPr lvl="1"/>
            <a:r>
              <a:rPr lang="en-US" altLang="da-DK" dirty="0"/>
              <a:t>Domestic and foreign debt</a:t>
            </a:r>
          </a:p>
          <a:p>
            <a:r>
              <a:rPr lang="en-US" altLang="da-DK" sz="2000" dirty="0" smtClean="0"/>
              <a:t>Assets</a:t>
            </a:r>
            <a:r>
              <a:rPr lang="en-US" altLang="da-DK" sz="2000" dirty="0"/>
              <a:t>:</a:t>
            </a:r>
          </a:p>
          <a:p>
            <a:pPr lvl="1"/>
            <a:r>
              <a:rPr lang="en-US" altLang="da-DK" dirty="0" smtClean="0"/>
              <a:t>Asset funds</a:t>
            </a:r>
            <a:endParaRPr lang="en-US" altLang="da-DK" dirty="0"/>
          </a:p>
          <a:p>
            <a:pPr lvl="1"/>
            <a:r>
              <a:rPr lang="en-US" altLang="da-DK" dirty="0"/>
              <a:t>Government </a:t>
            </a:r>
            <a:r>
              <a:rPr lang="en-US" altLang="da-DK" dirty="0" smtClean="0"/>
              <a:t>Account </a:t>
            </a:r>
            <a:r>
              <a:rPr lang="en-US" altLang="da-DK" dirty="0"/>
              <a:t>at </a:t>
            </a:r>
            <a:r>
              <a:rPr lang="en-US" altLang="da-DK" dirty="0" smtClean="0"/>
              <a:t>Central Bank </a:t>
            </a:r>
          </a:p>
          <a:p>
            <a:pPr lvl="1"/>
            <a:r>
              <a:rPr lang="en-US" altLang="da-DK" dirty="0" smtClean="0"/>
              <a:t>Re-lending </a:t>
            </a:r>
            <a:r>
              <a:rPr lang="en-US" altLang="da-DK" dirty="0"/>
              <a:t>to </a:t>
            </a:r>
            <a:r>
              <a:rPr lang="en-US" altLang="da-DK" dirty="0" smtClean="0"/>
              <a:t>SOE’s</a:t>
            </a:r>
            <a:endParaRPr lang="en-US" altLang="da-DK" dirty="0"/>
          </a:p>
          <a:p>
            <a:r>
              <a:rPr lang="en-GB" altLang="da-DK" sz="2000" dirty="0"/>
              <a:t>Government </a:t>
            </a:r>
            <a:r>
              <a:rPr lang="en-GB" altLang="da-DK" sz="2000" dirty="0" smtClean="0"/>
              <a:t>also has interest-rate </a:t>
            </a:r>
            <a:r>
              <a:rPr lang="en-GB" altLang="da-DK" sz="2000" dirty="0"/>
              <a:t>risk on subsidised housing</a:t>
            </a:r>
          </a:p>
          <a:p>
            <a:pPr lvl="1"/>
            <a:r>
              <a:rPr lang="en-GB" altLang="da-DK" dirty="0"/>
              <a:t>Duration target in line </a:t>
            </a:r>
            <a:r>
              <a:rPr lang="en-GB" altLang="da-DK" dirty="0" smtClean="0"/>
              <a:t>with management of Central Government Debt</a:t>
            </a:r>
          </a:p>
          <a:p>
            <a:pPr marL="387350" indent="-342900"/>
            <a:r>
              <a:rPr lang="en-US" sz="2000" dirty="0" smtClean="0"/>
              <a:t>Swaps are included in the management and used to change interest-rate and refinancing risk</a:t>
            </a:r>
            <a:endParaRPr lang="en-US" sz="2000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8A7D-E4B8-437D-8C64-1C7D8E5C384C}" type="slidenum">
              <a:rPr lang="da-DK" smtClean="0"/>
              <a:pPr/>
              <a:t>13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7701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a-DK" dirty="0"/>
              <a:t>Management </a:t>
            </a:r>
            <a:r>
              <a:rPr lang="en-US" altLang="da-DK" dirty="0" smtClean="0"/>
              <a:t>in the DMO of </a:t>
            </a:r>
            <a:r>
              <a:rPr lang="en-US" altLang="da-DK" dirty="0"/>
              <a:t>interest-rate risk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3"/>
          </p:nvPr>
        </p:nvSpPr>
        <p:spPr>
          <a:xfrm>
            <a:off x="423228" y="1607820"/>
            <a:ext cx="8294687" cy="3976380"/>
          </a:xfrm>
        </p:spPr>
        <p:txBody>
          <a:bodyPr/>
          <a:lstStyle/>
          <a:p>
            <a:r>
              <a:rPr lang="en-US" altLang="da-DK" sz="2000" dirty="0"/>
              <a:t>Cost-at-Risk model includes both assets and liabilities</a:t>
            </a:r>
          </a:p>
          <a:p>
            <a:r>
              <a:rPr lang="en-US" altLang="da-DK" sz="2000" dirty="0"/>
              <a:t>Government budget exogenous – no link to budget </a:t>
            </a:r>
            <a:r>
              <a:rPr lang="en-US" altLang="da-DK" sz="2000" dirty="0" smtClean="0"/>
              <a:t>smoothing (but scenarios analysis with budget chocks)</a:t>
            </a:r>
          </a:p>
          <a:p>
            <a:r>
              <a:rPr lang="en-US" altLang="da-DK" sz="2000" dirty="0" smtClean="0"/>
              <a:t>Separation of issuance strategy and interest-rate risk management via swaps</a:t>
            </a:r>
          </a:p>
          <a:p>
            <a:r>
              <a:rPr lang="en-US" altLang="da-DK" sz="2000" dirty="0" smtClean="0"/>
              <a:t>Target </a:t>
            </a:r>
            <a:r>
              <a:rPr lang="en-US" altLang="da-DK" sz="2000" dirty="0"/>
              <a:t>for duration of overall debt portfolio</a:t>
            </a:r>
          </a:p>
          <a:p>
            <a:r>
              <a:rPr lang="en-US" altLang="da-DK" sz="2000" dirty="0"/>
              <a:t>High duration </a:t>
            </a:r>
            <a:r>
              <a:rPr lang="en-US" altLang="da-DK" sz="2000" dirty="0">
                <a:sym typeface="Symbol" pitchFamily="18" charset="2"/>
              </a:rPr>
              <a:t> higher expected costs, but lower </a:t>
            </a:r>
            <a:r>
              <a:rPr lang="en-US" altLang="da-DK" sz="2000" dirty="0" smtClean="0">
                <a:sym typeface="Symbol" pitchFamily="18" charset="2"/>
              </a:rPr>
              <a:t>risks</a:t>
            </a:r>
          </a:p>
          <a:p>
            <a:r>
              <a:rPr lang="en-US" altLang="da-DK" sz="2000" dirty="0" smtClean="0">
                <a:sym typeface="Symbol" pitchFamily="18" charset="2"/>
              </a:rPr>
              <a:t>Interest rate swaps to achieve duration target</a:t>
            </a:r>
          </a:p>
          <a:p>
            <a:pPr marL="0" indent="0">
              <a:buNone/>
            </a:pPr>
            <a:endParaRPr lang="da-DK" sz="2000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8A7D-E4B8-437D-8C64-1C7D8E5C384C}" type="slidenum">
              <a:rPr lang="da-DK" smtClean="0"/>
              <a:pPr/>
              <a:t>14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9708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a-DK" dirty="0"/>
              <a:t>Asset-liability Management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da-DK" sz="2000" dirty="0" smtClean="0"/>
              <a:t>SALM </a:t>
            </a:r>
            <a:r>
              <a:rPr lang="en-US" altLang="da-DK" sz="2000" dirty="0"/>
              <a:t>is recommended</a:t>
            </a:r>
          </a:p>
          <a:p>
            <a:pPr lvl="1"/>
            <a:r>
              <a:rPr lang="en-US" altLang="da-DK" dirty="0"/>
              <a:t>Isolated strategies for assets and liabilities may increase overall costs and risks significantly</a:t>
            </a:r>
          </a:p>
          <a:p>
            <a:r>
              <a:rPr lang="en-US" altLang="da-DK" sz="2000" dirty="0"/>
              <a:t>Coordination between institutions recommended</a:t>
            </a:r>
          </a:p>
          <a:p>
            <a:pPr lvl="1"/>
            <a:r>
              <a:rPr lang="en-US" altLang="da-DK" dirty="0"/>
              <a:t>Degree of coordination between institutions may vary</a:t>
            </a:r>
          </a:p>
          <a:p>
            <a:pPr lvl="1"/>
            <a:r>
              <a:rPr lang="en-US" altLang="da-DK" dirty="0"/>
              <a:t>Important to recognize differences in institutions </a:t>
            </a:r>
            <a:r>
              <a:rPr lang="en-US" altLang="da-DK" dirty="0" smtClean="0"/>
              <a:t>economic exposure and policy </a:t>
            </a:r>
            <a:r>
              <a:rPr lang="en-US" altLang="da-DK" dirty="0"/>
              <a:t>objectives</a:t>
            </a:r>
          </a:p>
          <a:p>
            <a:r>
              <a:rPr lang="en-US" altLang="da-DK" sz="2000" dirty="0"/>
              <a:t>Delimitation important - neither realistic nor desirable to manage all assets and liabilities in one </a:t>
            </a:r>
            <a:r>
              <a:rPr lang="en-US" altLang="da-DK" sz="2000" dirty="0" smtClean="0"/>
              <a:t>model</a:t>
            </a:r>
          </a:p>
          <a:p>
            <a:pPr lvl="1"/>
            <a:r>
              <a:rPr lang="en-US" altLang="da-DK" dirty="0" smtClean="0"/>
              <a:t>link to general budget</a:t>
            </a:r>
          </a:p>
          <a:p>
            <a:pPr lvl="1"/>
            <a:r>
              <a:rPr lang="en-US" altLang="da-DK" dirty="0" smtClean="0"/>
              <a:t>macroeconomic models</a:t>
            </a:r>
          </a:p>
          <a:p>
            <a:pPr marL="387350" indent="-342900"/>
            <a:r>
              <a:rPr lang="en-US" altLang="da-DK" sz="2000" dirty="0" smtClean="0"/>
              <a:t>SALM can build on centralized goals and decentralized management</a:t>
            </a:r>
            <a:endParaRPr lang="en-US" altLang="da-DK" sz="2000" dirty="0"/>
          </a:p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8A7D-E4B8-437D-8C64-1C7D8E5C384C}" type="slidenum">
              <a:rPr lang="da-DK" smtClean="0"/>
              <a:pPr/>
              <a:t>15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24043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da-DK" dirty="0"/>
              <a:t>Mismatch of portfolios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altLang="da-DK" sz="2000" dirty="0"/>
              <a:t>High interest-rate risk if mismatch </a:t>
            </a:r>
            <a:r>
              <a:rPr lang="en-GB" altLang="da-DK" sz="2000" dirty="0" smtClean="0"/>
              <a:t>between </a:t>
            </a:r>
            <a:r>
              <a:rPr lang="en-GB" altLang="da-DK" sz="2000" dirty="0"/>
              <a:t>assets and </a:t>
            </a:r>
            <a:r>
              <a:rPr lang="en-GB" altLang="da-DK" sz="2000" dirty="0" smtClean="0"/>
              <a:t>liabilities </a:t>
            </a:r>
            <a:r>
              <a:rPr lang="en-US" altLang="da-DK" sz="2000" dirty="0">
                <a:sym typeface="Symbol" pitchFamily="18" charset="2"/>
              </a:rPr>
              <a:t></a:t>
            </a:r>
            <a:r>
              <a:rPr lang="en-GB" altLang="da-DK" sz="2000" dirty="0" smtClean="0"/>
              <a:t> SALM</a:t>
            </a:r>
          </a:p>
          <a:p>
            <a:r>
              <a:rPr lang="en-GB" altLang="da-DK" sz="2000" dirty="0" smtClean="0"/>
              <a:t>SALM has to include different management tools</a:t>
            </a:r>
          </a:p>
          <a:p>
            <a:pPr lvl="1"/>
            <a:r>
              <a:rPr lang="en-GB" altLang="da-DK" dirty="0" smtClean="0"/>
              <a:t>duration</a:t>
            </a:r>
          </a:p>
          <a:p>
            <a:pPr lvl="1"/>
            <a:r>
              <a:rPr lang="en-GB" altLang="da-DK" dirty="0" smtClean="0"/>
              <a:t>interest-rate fixing in different maturity segments</a:t>
            </a:r>
            <a:endParaRPr lang="en-GB" altLang="da-DK" dirty="0"/>
          </a:p>
          <a:p>
            <a:pPr lvl="1"/>
            <a:r>
              <a:rPr lang="en-US" dirty="0" smtClean="0"/>
              <a:t>Refinancing risk </a:t>
            </a:r>
          </a:p>
          <a:p>
            <a:pPr lvl="1"/>
            <a:r>
              <a:rPr lang="en-US" dirty="0" smtClean="0"/>
              <a:t>Instrument risk – interest rates in the same maturity segment develop differently across instruments (non-secured/secured basis, government rates/money market rate etc.)</a:t>
            </a:r>
            <a:endParaRPr lang="en-US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8A7D-E4B8-437D-8C64-1C7D8E5C384C}" type="slidenum">
              <a:rPr lang="da-DK" smtClean="0"/>
              <a:pPr/>
              <a:t>16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4058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Management of </a:t>
            </a:r>
            <a:r>
              <a:rPr lang="da-DK" dirty="0"/>
              <a:t>Sovereign </a:t>
            </a:r>
            <a:r>
              <a:rPr lang="en-US" dirty="0"/>
              <a:t>owned</a:t>
            </a:r>
            <a:r>
              <a:rPr lang="da-DK" dirty="0"/>
              <a:t> E</a:t>
            </a:r>
            <a:r>
              <a:rPr lang="da-DK" dirty="0" smtClean="0"/>
              <a:t>ntitets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3"/>
          </p:nvPr>
        </p:nvSpPr>
        <p:spPr>
          <a:xfrm>
            <a:off x="423863" y="1238250"/>
            <a:ext cx="8294687" cy="5078730"/>
          </a:xfrm>
        </p:spPr>
        <p:txBody>
          <a:bodyPr/>
          <a:lstStyle/>
          <a:p>
            <a:r>
              <a:rPr lang="en-US" sz="2000" dirty="0" smtClean="0"/>
              <a:t>Re-lending to SOE’s </a:t>
            </a:r>
            <a:r>
              <a:rPr lang="en-US" sz="2000" dirty="0" smtClean="0">
                <a:sym typeface="Symbol"/>
              </a:rPr>
              <a:t></a:t>
            </a:r>
            <a:r>
              <a:rPr lang="en-US" sz="2000" dirty="0" smtClean="0"/>
              <a:t> supports liquidity of bonds and is cost efficient</a:t>
            </a:r>
          </a:p>
          <a:p>
            <a:pPr lvl="0"/>
            <a:r>
              <a:rPr lang="en-US" sz="2000" dirty="0" smtClean="0"/>
              <a:t>Rules and guidelines for the central government is extended to 15 SOE’s	</a:t>
            </a:r>
          </a:p>
          <a:p>
            <a:pPr lvl="1"/>
            <a:r>
              <a:rPr lang="en-US" dirty="0" smtClean="0"/>
              <a:t>Transactions and swaps have to be built of simple elements (“plain vanilla”)</a:t>
            </a:r>
          </a:p>
          <a:p>
            <a:pPr lvl="1"/>
            <a:r>
              <a:rPr lang="en-US" dirty="0" smtClean="0"/>
              <a:t>Credit risk is managed after some overall guidelines </a:t>
            </a:r>
          </a:p>
          <a:p>
            <a:pPr lvl="1"/>
            <a:r>
              <a:rPr lang="en-US" dirty="0" smtClean="0"/>
              <a:t>Collateral Security Agreements (CSA) are concluded</a:t>
            </a:r>
          </a:p>
          <a:p>
            <a:pPr lvl="1"/>
            <a:r>
              <a:rPr lang="en-US" dirty="0" smtClean="0"/>
              <a:t>Currency exposure limited to euro</a:t>
            </a:r>
          </a:p>
          <a:p>
            <a:pPr lvl="0"/>
            <a:r>
              <a:rPr lang="en-US" sz="2000" dirty="0" smtClean="0"/>
              <a:t>The Board of a SOE has to set general risk limits and make financial plans</a:t>
            </a:r>
          </a:p>
          <a:p>
            <a:pPr lvl="0"/>
            <a:r>
              <a:rPr lang="en-US" sz="2000" dirty="0" smtClean="0"/>
              <a:t>Daily risk management and use of instruments and swaps is the responsibility of each SOE</a:t>
            </a:r>
          </a:p>
          <a:p>
            <a:pPr marL="228600" lvl="1" indent="-228600">
              <a:lnSpc>
                <a:spcPct val="102000"/>
              </a:lnSpc>
              <a:spcBef>
                <a:spcPts val="2000"/>
              </a:spcBef>
            </a:pPr>
            <a:endParaRPr lang="en-GB" altLang="da-DK" sz="2000" dirty="0"/>
          </a:p>
          <a:p>
            <a:endParaRPr lang="da-DK" sz="2000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8A7D-E4B8-437D-8C64-1C7D8E5C384C}" type="slidenum">
              <a:rPr lang="da-DK" smtClean="0"/>
              <a:pPr/>
              <a:t>17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2647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da-DK" dirty="0"/>
              <a:t>Concluding remarks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3"/>
          </p:nvPr>
        </p:nvSpPr>
        <p:spPr>
          <a:xfrm>
            <a:off x="423228" y="1470660"/>
            <a:ext cx="8294687" cy="3846840"/>
          </a:xfrm>
        </p:spPr>
        <p:txBody>
          <a:bodyPr/>
          <a:lstStyle/>
          <a:p>
            <a:r>
              <a:rPr lang="en-GB" altLang="da-DK" sz="2000" dirty="0"/>
              <a:t>Full integration of national balance sheet not possible and not </a:t>
            </a:r>
            <a:r>
              <a:rPr lang="en-GB" altLang="da-DK" sz="2000" dirty="0" smtClean="0"/>
              <a:t>wanted</a:t>
            </a:r>
            <a:endParaRPr lang="en-GB" altLang="da-DK" sz="2000" dirty="0"/>
          </a:p>
          <a:p>
            <a:r>
              <a:rPr lang="en-GB" altLang="da-DK" sz="2000" dirty="0" smtClean="0"/>
              <a:t>SALM is important to DMO’s risk management</a:t>
            </a:r>
          </a:p>
          <a:p>
            <a:r>
              <a:rPr lang="en-GB" altLang="da-DK" sz="2000" dirty="0" smtClean="0"/>
              <a:t>Institutional </a:t>
            </a:r>
            <a:r>
              <a:rPr lang="en-GB" altLang="da-DK" sz="2000" dirty="0"/>
              <a:t>set-up </a:t>
            </a:r>
            <a:r>
              <a:rPr lang="en-GB" altLang="da-DK" sz="2000" dirty="0" smtClean="0"/>
              <a:t>consistent and transparent</a:t>
            </a:r>
            <a:endParaRPr lang="en-GB" altLang="da-DK" sz="2000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8A7D-E4B8-437D-8C64-1C7D8E5C384C}" type="slidenum">
              <a:rPr lang="da-DK" smtClean="0"/>
              <a:pPr/>
              <a:t>18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1059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æsentation">
  <a:themeElements>
    <a:clrScheme name="Nationalbank farver">
      <a:dk1>
        <a:sysClr val="windowText" lastClr="000000"/>
      </a:dk1>
      <a:lt1>
        <a:sysClr val="window" lastClr="FFFFFF"/>
      </a:lt1>
      <a:dk2>
        <a:srgbClr val="007BD2"/>
      </a:dk2>
      <a:lt2>
        <a:srgbClr val="979797"/>
      </a:lt2>
      <a:accent1>
        <a:srgbClr val="303030"/>
      </a:accent1>
      <a:accent2>
        <a:srgbClr val="007BD2"/>
      </a:accent2>
      <a:accent3>
        <a:srgbClr val="8DC63E"/>
      </a:accent3>
      <a:accent4>
        <a:srgbClr val="4DA183"/>
      </a:accent4>
      <a:accent5>
        <a:srgbClr val="9150A4"/>
      </a:accent5>
      <a:accent6>
        <a:srgbClr val="D23757"/>
      </a:accent6>
      <a:hlink>
        <a:srgbClr val="007BD2"/>
      </a:hlink>
      <a:folHlink>
        <a:srgbClr val="9150A4"/>
      </a:folHlink>
    </a:clrScheme>
    <a:fontScheme name="DN_powerpoint_2012_vers01">
      <a:majorFont>
        <a:latin typeface="Frutiger 45 Light"/>
        <a:ea typeface=""/>
        <a:cs typeface=""/>
      </a:majorFont>
      <a:minorFont>
        <a:latin typeface="Frutiger 55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a-DK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 55 Roman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a-DK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 55 Roman" pitchFamily="2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Nationalbank farver">
    <a:dk1>
      <a:sysClr val="windowText" lastClr="000000"/>
    </a:dk1>
    <a:lt1>
      <a:sysClr val="window" lastClr="FFFFFF"/>
    </a:lt1>
    <a:dk2>
      <a:srgbClr val="007BD2"/>
    </a:dk2>
    <a:lt2>
      <a:srgbClr val="979797"/>
    </a:lt2>
    <a:accent1>
      <a:srgbClr val="303030"/>
    </a:accent1>
    <a:accent2>
      <a:srgbClr val="007BD2"/>
    </a:accent2>
    <a:accent3>
      <a:srgbClr val="8DC63E"/>
    </a:accent3>
    <a:accent4>
      <a:srgbClr val="4DA183"/>
    </a:accent4>
    <a:accent5>
      <a:srgbClr val="9150A4"/>
    </a:accent5>
    <a:accent6>
      <a:srgbClr val="D23757"/>
    </a:accent6>
    <a:hlink>
      <a:srgbClr val="007BD2"/>
    </a:hlink>
    <a:folHlink>
      <a:srgbClr val="9150A4"/>
    </a:folHlink>
  </a:clrScheme>
  <a:fontScheme name="Nationalbank fonte">
    <a:majorFont>
      <a:latin typeface="Nationalbank"/>
      <a:ea typeface=""/>
      <a:cs typeface=""/>
    </a:majorFont>
    <a:minorFont>
      <a:latin typeface="Nationalbank"/>
      <a:ea typeface=""/>
      <a:cs typeface=""/>
    </a:minorFont>
  </a:fontScheme>
  <a:fmtScheme name="Kontor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822A49BA904CB42B9CDA88E14D4C647" ma:contentTypeVersion="0" ma:contentTypeDescription="Opret et nyt dokument." ma:contentTypeScope="" ma:versionID="61261bdde8006ba854bb308234d073f9">
  <xsd:schema xmlns:xsd="http://www.w3.org/2001/XMLSchema" xmlns:p="http://schemas.microsoft.com/office/2006/metadata/properties" targetNamespace="http://schemas.microsoft.com/office/2006/metadata/properties" ma:root="true" ma:fieldsID="79458e8cc01bc5f1f076b1628d37ae1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 ma:readOnly="tru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LongProperties xmlns="http://schemas.microsoft.com/office/2006/metadata/longPropertie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3B4316C-5A22-4373-A594-F00855CED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339CD0-9714-4BEC-9C47-22EE83341F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C48EA8F7-E44A-4BF3-8836-34E4B0EC8010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6F8BE621-66A4-4164-A570-82902CA7EC68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Præsentation</Template>
  <TotalTime>3681</TotalTime>
  <Words>868</Words>
  <Application>Microsoft Office PowerPoint</Application>
  <PresentationFormat>Skærmshow (4:3)</PresentationFormat>
  <Paragraphs>181</Paragraphs>
  <Slides>18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Diastitler</vt:lpstr>
      </vt:variant>
      <vt:variant>
        <vt:i4>18</vt:i4>
      </vt:variant>
    </vt:vector>
  </HeadingPairs>
  <TitlesOfParts>
    <vt:vector size="19" baseType="lpstr">
      <vt:lpstr>Præsentation</vt:lpstr>
      <vt:lpstr>sovereign Asset and liability Management in a decentralized environment</vt:lpstr>
      <vt:lpstr>Balance sheet objectives</vt:lpstr>
      <vt:lpstr>Objectives of the Central Bank and the DMO</vt:lpstr>
      <vt:lpstr>Coordination of exchange-rate risk on Government debt and FOREX-reserves</vt:lpstr>
      <vt:lpstr>Two types of curency movements </vt:lpstr>
      <vt:lpstr>Borrowing to fill the currency reserve: Avoid large net exposure </vt:lpstr>
      <vt:lpstr>Avoid large gross exposure in high risk currencies </vt:lpstr>
      <vt:lpstr>Small net and gross exposure </vt:lpstr>
      <vt:lpstr>Foreign exchange exposure before and after coordination </vt:lpstr>
      <vt:lpstr>Management of other currency risks</vt:lpstr>
      <vt:lpstr>Risk Management </vt:lpstr>
      <vt:lpstr>Interest-rate risk management for DMO and Central Bank</vt:lpstr>
      <vt:lpstr>Interest-rate risk management at Danish DMO</vt:lpstr>
      <vt:lpstr>Management in the DMO of interest-rate risk</vt:lpstr>
      <vt:lpstr>Asset-liability Management</vt:lpstr>
      <vt:lpstr>Mismatch of portfolios</vt:lpstr>
      <vt:lpstr>Management of Sovereign owned Entitets</vt:lpstr>
      <vt:lpstr>Concluding remarks</vt:lpstr>
    </vt:vector>
  </TitlesOfParts>
  <Company>Danmarks Nationalbank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role of DMO’s in centralised or integrated sovereign risk management</dc:title>
  <dc:creator>Ann Kusk</dc:creator>
  <cp:lastModifiedBy>Ib Hansen</cp:lastModifiedBy>
  <cp:revision>43</cp:revision>
  <dcterms:created xsi:type="dcterms:W3CDTF">2014-02-05T13:33:15Z</dcterms:created>
  <dcterms:modified xsi:type="dcterms:W3CDTF">2015-03-05T10:19:45Z</dcterms:modified>
</cp:coreProperties>
</file>