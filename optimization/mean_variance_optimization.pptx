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0604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Mean Variance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0">
                <a:solidFill>
                  <a:srgbClr val="CCD6E0"/>
                </a:solidFill>
                <a:latin typeface="Calibri"/>
              </a:rPr>
              <a:t>Theory, and an application to sovereign debt currency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555B66"/>
                </a:solidFill>
                <a:latin typeface="Calibri"/>
              </a:rPr>
              <a:t>ZAR debt frontier  —  wb-debt-simulation /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is Mean Variance Optimization?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Markowitz (1952) — portfolio selection as a quadratic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B2E4F"/>
                </a:solidFill>
                <a:latin typeface="Calibri"/>
              </a:rPr>
              <a:t>•  Pick portfolio weights x that trade off expected return against risk.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2E4F"/>
                </a:solidFill>
                <a:latin typeface="Calibri"/>
              </a:rPr>
              <a:t>•  Risk is measured by variance of portfolio return:  xᵀ Σ x.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2E4F"/>
                </a:solidFill>
                <a:latin typeface="Calibri"/>
              </a:rPr>
              <a:t>•  Expected return is linear in weights:  μᵀ x.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2E4F"/>
                </a:solidFill>
                <a:latin typeface="Calibri"/>
              </a:rPr>
              <a:t>•  Solutions sweep a risk-aversion parameter λ to trace the efficient frontier.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B2E4F"/>
                </a:solidFill>
                <a:latin typeface="Calibri"/>
              </a:rPr>
              <a:t>•  The same machinery applies to debt-cost minimization — just flip the sign of the linear term.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optimization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Quadratic objective, linear constraints — solved as a QP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B2E4F"/>
                </a:solidFill>
                <a:latin typeface="Calibri"/>
              </a:rPr>
              <a:t>Asset allocation form (return maximization):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200" b="1">
                <a:solidFill>
                  <a:srgbClr val="C84B31"/>
                </a:solidFill>
                <a:latin typeface="Calibri"/>
              </a:rPr>
              <a:t>minimize    (1 − λ) · xᵀ Σ x  −  λ · μᵀ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1">
                <a:solidFill>
                  <a:srgbClr val="0B2E4F"/>
                </a:solidFill>
                <a:latin typeface="Calibri"/>
              </a:rPr>
              <a:t>Subject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Σ xᵢ  =  1   (fully invested)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bounds_min  ≤  x  ≤  bounds_max   (box constraints, e.g. no short, sector caps)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Optional linear inequalities  wᵀ x  ≤  c   (e.g. domestic-share floor)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555B66"/>
                </a:solidFill>
                <a:latin typeface="Calibri"/>
              </a:rPr>
              <a:t>Cost-minimization form (debt frontier): swap the sign of the linear term —  + λ · μᵀ 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efficient frontier — debt-cost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Sweep λ ∈ [0, 1] → one optimal funding mix per risk-aversion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400800" cy="384048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r>
              <a:rPr sz="1600">
                <a:solidFill>
                  <a:srgbClr val="0B2E4F"/>
                </a:solidFill>
                <a:latin typeface="Calibri"/>
              </a:rPr>
              <a:t>•  λ = 0:  pure risk minimization  —  the minimum-variance funding mix.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73936"/>
            <a:ext cx="6400800" cy="384048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r>
              <a:rPr sz="1600">
                <a:solidFill>
                  <a:srgbClr val="0B2E4F"/>
                </a:solidFill>
                <a:latin typeface="Calibri"/>
              </a:rPr>
              <a:t>•  λ = 1:  pure cost minimization  —  cheapest mix, ignores FX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67712"/>
            <a:ext cx="6400800" cy="676656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r>
              <a:rPr sz="1600">
                <a:solidFill>
                  <a:srgbClr val="0B2E4F"/>
                </a:solidFill>
                <a:latin typeface="Calibri"/>
              </a:rPr>
              <a:t>•  Intermediate λ:  Pareto-optimal trade-offs between debt cost and FX volatility.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r>
              <a:rPr sz="1600">
                <a:solidFill>
                  <a:srgbClr val="0B2E4F"/>
                </a:solidFill>
                <a:latin typeface="Calibri"/>
              </a:rPr>
              <a:t>•  Plot (risk, expected cost) for each solution to trace the lower envelope of feasible mixes.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6400800" cy="969264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r>
              <a:rPr sz="1600">
                <a:solidFill>
                  <a:srgbClr val="0B2E4F"/>
                </a:solidFill>
                <a:latin typeface="Calibri"/>
              </a:rPr>
              <a:t>•  Two-fund property:  every point on the frontier is a linear combination of any two other frontier points — pick A and B, sweep α ∈ [0, 1], and α·A + (1−α)·B traces the curve between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19472"/>
            <a:ext cx="6400800" cy="676656"/>
          </a:xfrm>
          <a:prstGeom prst="rect">
            <a:avLst/>
          </a:prstGeom>
          <a:noFill/>
        </p:spPr>
        <p:txBody>
          <a:bodyPr wrap="square" tIns="25400" bIns="25400">
            <a:spAutoFit/>
          </a:bodyPr>
          <a:lstStyle/>
          <a:p>
            <a:r>
              <a:rPr sz="1600">
                <a:solidFill>
                  <a:srgbClr val="0B2E4F"/>
                </a:solidFill>
                <a:latin typeface="Calibri"/>
              </a:rPr>
              <a:t>•  Current funding mix sits above the frontier — the gap shows the cost or risk reduction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463040"/>
            <a:ext cx="4389120" cy="4572000"/>
          </a:xfrm>
          <a:prstGeom prst="rect">
            <a:avLst/>
          </a:prstGeom>
          <a:solidFill>
            <a:srgbClr val="F2F3F5"/>
          </a:solidFill>
          <a:ln>
            <a:solidFill>
              <a:srgbClr val="555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7772400" y="5486400"/>
            <a:ext cx="3657600" cy="0"/>
          </a:xfrm>
          <a:prstGeom prst="line">
            <a:avLst/>
          </a:prstGeom>
          <a:ln>
            <a:solidFill>
              <a:srgbClr val="0B2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72400" y="1828800"/>
            <a:ext cx="0" cy="3657600"/>
          </a:xfrm>
          <a:prstGeom prst="line">
            <a:avLst/>
          </a:prstGeom>
          <a:ln>
            <a:solidFill>
              <a:srgbClr val="0B2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80" y="2194560"/>
            <a:ext cx="84406" cy="138874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39686" y="2333434"/>
            <a:ext cx="84406" cy="135266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24092" y="2468700"/>
            <a:ext cx="84406" cy="131659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08498" y="2600359"/>
            <a:ext cx="84406" cy="128052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92904" y="2728411"/>
            <a:ext cx="84406" cy="124445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77310" y="2852856"/>
            <a:ext cx="84406" cy="120838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461716" y="2973694"/>
            <a:ext cx="84407" cy="117231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46123" y="3090925"/>
            <a:ext cx="84406" cy="113624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30529" y="3204549"/>
            <a:ext cx="84406" cy="110016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14935" y="3314565"/>
            <a:ext cx="84406" cy="106410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799341" y="3420975"/>
            <a:ext cx="84406" cy="102802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83747" y="3523777"/>
            <a:ext cx="84406" cy="99195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68153" y="3622972"/>
            <a:ext cx="84407" cy="95588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3718560"/>
            <a:ext cx="84406" cy="91982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36966" y="3810542"/>
            <a:ext cx="84406" cy="88374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21372" y="3898916"/>
            <a:ext cx="84406" cy="84766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05778" y="3983682"/>
            <a:ext cx="84406" cy="81160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90184" y="4064842"/>
            <a:ext cx="84406" cy="77553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74590" y="4142395"/>
            <a:ext cx="84406" cy="73945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558996" y="4216340"/>
            <a:ext cx="84407" cy="70339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643403" y="4286679"/>
            <a:ext cx="84406" cy="66731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27809" y="4353410"/>
            <a:ext cx="84406" cy="63124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12215" y="4416534"/>
            <a:ext cx="84406" cy="59518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896621" y="4476052"/>
            <a:ext cx="84406" cy="55910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981027" y="4531962"/>
            <a:ext cx="84406" cy="52303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065433" y="4584265"/>
            <a:ext cx="84407" cy="48695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149840" y="4632960"/>
            <a:ext cx="84406" cy="45089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34246" y="4678049"/>
            <a:ext cx="84406" cy="41482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318652" y="4719531"/>
            <a:ext cx="84406" cy="37874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403058" y="4757405"/>
            <a:ext cx="84406" cy="34268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487464" y="4791673"/>
            <a:ext cx="84406" cy="30660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571870" y="4822333"/>
            <a:ext cx="84406" cy="27054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656276" y="4849387"/>
            <a:ext cx="84407" cy="23446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740683" y="4872833"/>
            <a:ext cx="84406" cy="19839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825089" y="4892672"/>
            <a:ext cx="84406" cy="16232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909495" y="4908904"/>
            <a:ext cx="84406" cy="12625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993901" y="4921529"/>
            <a:ext cx="84406" cy="9017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078307" y="4930546"/>
            <a:ext cx="84406" cy="5411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162713" y="4935957"/>
            <a:ext cx="84407" cy="1803"/>
          </a:xfrm>
          <a:prstGeom prst="line">
            <a:avLst/>
          </a:prstGeom>
          <a:ln w="31750">
            <a:solidFill>
              <a:srgbClr val="C84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001000" y="1874520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0B2E4F"/>
                </a:solidFill>
                <a:latin typeface="Calibri"/>
              </a:rPr>
              <a:t>λ = 0  min-variance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4892040"/>
            <a:ext cx="1554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2E4F"/>
                </a:solidFill>
                <a:latin typeface="Calibri"/>
              </a:rPr>
              <a:t>λ = 1  min-cost</a:t>
            </a:r>
          </a:p>
        </p:txBody>
      </p:sp>
      <p:sp>
        <p:nvSpPr>
          <p:cNvPr id="56" name="Oval 55"/>
          <p:cNvSpPr/>
          <p:nvPr/>
        </p:nvSpPr>
        <p:spPr>
          <a:xfrm>
            <a:off x="8707901" y="3329535"/>
            <a:ext cx="182880" cy="182880"/>
          </a:xfrm>
          <a:prstGeom prst="ellipse">
            <a:avLst/>
          </a:prstGeom>
          <a:solidFill>
            <a:srgbClr val="C84B31"/>
          </a:solidFill>
          <a:ln>
            <a:solidFill>
              <a:srgbClr val="C84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6733" y="3146655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C84B31"/>
                </a:solidFill>
                <a:latin typeface="Calibri"/>
              </a:rPr>
              <a:t>A</a:t>
            </a:r>
          </a:p>
        </p:txBody>
      </p:sp>
      <p:sp>
        <p:nvSpPr>
          <p:cNvPr id="58" name="Oval 57"/>
          <p:cNvSpPr/>
          <p:nvPr/>
        </p:nvSpPr>
        <p:spPr>
          <a:xfrm>
            <a:off x="10311618" y="4665965"/>
            <a:ext cx="182880" cy="182880"/>
          </a:xfrm>
          <a:prstGeom prst="ellipse">
            <a:avLst/>
          </a:prstGeom>
          <a:solidFill>
            <a:srgbClr val="C84B31"/>
          </a:solidFill>
          <a:ln>
            <a:solidFill>
              <a:srgbClr val="C84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94498" y="4803125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C84B31"/>
                </a:solidFill>
                <a:latin typeface="Calibri"/>
              </a:rPr>
              <a:t>B</a:t>
            </a:r>
          </a:p>
        </p:txBody>
      </p:sp>
      <p:sp>
        <p:nvSpPr>
          <p:cNvPr id="60" name="Oval 59"/>
          <p:cNvSpPr/>
          <p:nvPr/>
        </p:nvSpPr>
        <p:spPr>
          <a:xfrm>
            <a:off x="9674352" y="3364992"/>
            <a:ext cx="219456" cy="219456"/>
          </a:xfrm>
          <a:prstGeom prst="ellipse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21240" y="3337560"/>
            <a:ext cx="1463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1">
                <a:solidFill>
                  <a:srgbClr val="0B2E4F"/>
                </a:solidFill>
                <a:latin typeface="Calibri"/>
              </a:rPr>
              <a:t>current mix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95360" y="553212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55B66"/>
                </a:solidFill>
                <a:latin typeface="Calibri"/>
              </a:rPr>
              <a:t>Risk  (xᵀ Σ x, FX variance)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17830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55B66"/>
                </a:solidFill>
                <a:latin typeface="Calibri"/>
              </a:rPr>
              <a:t>Expected debt cost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0" y="283464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1">
                <a:solidFill>
                  <a:srgbClr val="C84B31"/>
                </a:solidFill>
                <a:latin typeface="Calibri"/>
              </a:rPr>
              <a:t>efficient frontier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From asset allocation to debt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Same QP, different sign — minimize cost instead of maximizing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A sovereign issuing in multiple currencies faces the same trade-off: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    •  Expected cost  =  interest rate  +  expected FX appreciation against the base currency.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    •  Risk           =  variance of debt-servicing cost driven by FX moves against the base.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Weights x are now funding shares per currency, not asset weights.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Covariance Σ is built from historical log-returns of FX rates against the base (here ZAR).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Set maximize=False so λ tilts the objective toward cost reduction rather than return.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ZAR debt frontier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optimization/exchangerates_get.py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84B31"/>
                </a:solidFill>
                <a:latin typeface="Calibri"/>
              </a:rPr>
              <a:t>1.  Fetch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18872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0B2E4F"/>
                </a:solidFill>
                <a:latin typeface="Calibri"/>
              </a:rPr>
              <a:t>ECB SDMX  →  daily EUR-cross FX  →  cached locally in optimization/currency/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84B31"/>
                </a:solidFill>
                <a:latin typeface="Calibri"/>
              </a:rPr>
              <a:t>2.  Rebase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78308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0B2E4F"/>
                </a:solidFill>
                <a:latin typeface="Calibri"/>
              </a:rPr>
              <a:t>convert_base_currency(fx, base='zar')  →  columns become ZAR_USD, ZAR_GBP,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84B31"/>
                </a:solidFill>
                <a:latin typeface="Calibri"/>
              </a:rPr>
              <a:t>3.  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37744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0B2E4F"/>
                </a:solidFill>
                <a:latin typeface="Calibri"/>
              </a:rPr>
              <a:t>get_fx_returns(...)  —  log-diffs, drop the first NaN row.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84B31"/>
                </a:solidFill>
                <a:latin typeface="Calibri"/>
              </a:rPr>
              <a:t>4.  Covariance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7180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0B2E4F"/>
                </a:solidFill>
                <a:latin typeface="Calibri"/>
              </a:rPr>
              <a:t>get_fx_covariance(returns)  —  pandas .cov() with a missing-data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84B31"/>
                </a:solidFill>
                <a:latin typeface="Calibri"/>
              </a:rPr>
              <a:t>5.  Assumptions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56616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0B2E4F"/>
                </a:solidFill>
                <a:latin typeface="Calibri"/>
              </a:rPr>
              <a:t>DataFrame: interest_rate, expected_appreciation, min/max_share, current_share.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84B31"/>
                </a:solidFill>
                <a:latin typeface="Calibri"/>
              </a:rPr>
              <a:t>6. 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16052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0B2E4F"/>
                </a:solidFill>
                <a:latin typeface="Calibri"/>
              </a:rPr>
              <a:t>mv_from_dataframes(cov_df, assumptions, n_points=101)  —  101 QPs along 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84B31"/>
                </a:solidFill>
                <a:latin typeface="Calibri"/>
              </a:rPr>
              <a:t>7.  Plot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754880"/>
            <a:ext cx="9144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500" b="0">
                <a:solidFill>
                  <a:srgbClr val="0B2E4F"/>
                </a:solidFill>
                <a:latin typeface="Calibri"/>
              </a:rPr>
              <a:t>plot_debt_frontier_labeled(...)  —  cost–risk frontier + funding-share panels.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ZAR debt frontier —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USD, GBP, JPY, CHF, EUR funding for a ZAR-based debt manager</a:t>
            </a:r>
          </a:p>
        </p:txBody>
      </p:sp>
      <p:pic>
        <p:nvPicPr>
          <p:cNvPr id="6" name="Picture 5" descr="zar_deb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40311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55B66"/>
                </a:solidFill>
                <a:latin typeface="Calibri"/>
              </a:rPr>
              <a:t>Source: optimization/zar_debt_frontier.png  —  regenerated by  python exchangerates_get.py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Reading the three panels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What the plotter shows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0B2E4F"/>
                </a:solidFill>
                <a:latin typeface="Calibri"/>
              </a:rPr>
              <a:t>•  Panel 1  —  cost vs risk:  the efficient frontier, plus the current portfolio marker. If the marker sits below-and-right of the frontier, there is a same-cost / lower-risk move available.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2E4F"/>
                </a:solidFill>
                <a:latin typeface="Calibri"/>
              </a:rPr>
              <a:t>•  Panel 2  —  funding shares as lines:  each currency’s optimal share as λ moves left (risk-averse) to right (cost-min).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2E4F"/>
                </a:solidFill>
                <a:latin typeface="Calibri"/>
              </a:rPr>
              <a:t>•  Panel 3  —  stacked area:  the same shares as a 100% composition view — easier to read the mix at any given risk-aversion level.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0B2E4F"/>
                </a:solidFill>
                <a:latin typeface="Calibri"/>
              </a:rPr>
              <a:t>•  Row 0 of the result frame is the current composition (off the frontier). Rows 1..n_points are the frontier sweep.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DebtFrontierInputs — the editable entry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Dataclass wrapping covariance + assumptions, with a widget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0B2E4F"/>
                </a:solidFill>
                <a:latin typeface="Calibri"/>
              </a:rPr>
              <a:t>Construct, edit, solve, plot: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B2E4F"/>
                </a:solidFill>
                <a:latin typeface="Consolas"/>
              </a:rPr>
              <a:t>inp = er.DebtFrontierInputs(cov_df=cov_df, assumptions=assumptions,</a:t>
            </a:r>
          </a:p>
          <a:p>
            <a:r>
              <a:rPr sz="1600">
                <a:solidFill>
                  <a:srgbClr val="0B2E4F"/>
                </a:solidFill>
                <a:latin typeface="Consolas"/>
              </a:rPr>
              <a:t>                            name='basis', chartfolder='graph/')</a:t>
            </a:r>
          </a:p>
          <a:p>
            <a:r>
              <a:rPr sz="1600">
                <a:solidFill>
                  <a:srgbClr val="0B2E4F"/>
                </a:solidFill>
                <a:latin typeface="Consolas"/>
              </a:rPr>
              <a:t>inp.widget()                  # interactive grid in a notebook</a:t>
            </a:r>
          </a:p>
          <a:p>
            <a:r>
              <a:rPr sz="1600">
                <a:solidFill>
                  <a:srgbClr val="0B2E4F"/>
                </a:solidFill>
                <a:latin typeface="Consolas"/>
              </a:rPr>
              <a:t>inp.solve()                   # 102-row DataFrame (row 0 = current)</a:t>
            </a:r>
          </a:p>
          <a:p>
            <a:r>
              <a:rPr sz="1600">
                <a:solidFill>
                  <a:srgbClr val="0B2E4F"/>
                </a:solidFill>
                <a:latin typeface="Consolas"/>
              </a:rPr>
              <a:t>inp.plot()                    # writes graph/basis.svg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Loop scenarios by mutating inp.assumptions['interest_rate'] and setting inp.name before each plot().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Live Σ current_share indicator in the widget turns green at exactly 1.0.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Default export is SVG only; pass export_formats=('png','pdf','svg') to override.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Caveats and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9728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CCD6E0"/>
                </a:solidFill>
                <a:latin typeface="Calibri"/>
              </a:rPr>
              <a:t>What to know before pushing this further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Historical covariance is backward-looking. FX regimes shift — stress with alternative Σ (e.g. crisis-period covariance).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Expected appreciation defaults to 0 in the worked example. Provide a view (forwards, UIP, model output) for production use.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Add constraints via the weights / weigthtedsum slots of mv_opt (note the upstream typo). E.g. domestic-share floor, regional caps.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n_points=101 is fast (&lt;1s for 5 assets). Bump for smoother lines; cost is linear.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Yields here are debt cost, not asset return. Don’t rename the result column — plotter labels are hardcoded.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B2E4F"/>
                </a:solidFill>
                <a:latin typeface="Calibri"/>
              </a:rPr>
              <a:t>•  External dep: mv_opt comes from model_cvx, bundled with ModelFlowIb (not on PyPI).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MVO is a one-paragraph idea: minimize a quadratic risk term, with a linear return/cost term, under linear constraints.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Sweeping the risk-aversion weight λ traces the efficient frontier.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The debt-manager version is the same QP with the sign flipped on the linear term — cost replaces return.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This repo wires ECB FX data → covariance → QP → labeled frontier plot, with a notebook widget for editing assumptions.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B2E4F"/>
                </a:solidFill>
                <a:latin typeface="Calibri"/>
              </a:rPr>
              <a:t>•  Output: a single chart that makes the cost–risk trade-off across currency mixes legible.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